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9.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61" r:id="rId3"/>
    <p:sldId id="257" r:id="rId4"/>
    <p:sldId id="264" r:id="rId5"/>
    <p:sldId id="266" r:id="rId6"/>
    <p:sldId id="258" r:id="rId7"/>
    <p:sldId id="304" r:id="rId8"/>
    <p:sldId id="279" r:id="rId9"/>
    <p:sldId id="296" r:id="rId10"/>
    <p:sldId id="280" r:id="rId11"/>
    <p:sldId id="300" r:id="rId12"/>
    <p:sldId id="281" r:id="rId13"/>
    <p:sldId id="301" r:id="rId14"/>
    <p:sldId id="314" r:id="rId15"/>
    <p:sldId id="312" r:id="rId16"/>
    <p:sldId id="313" r:id="rId17"/>
    <p:sldId id="318" r:id="rId18"/>
    <p:sldId id="278" r:id="rId19"/>
  </p:sldIdLst>
  <p:sldSz cx="12192000" cy="6858000"/>
  <p:notesSz cx="6858000" cy="9144000"/>
  <p:custDataLst>
    <p:tags r:id="rId24"/>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6" d="100"/>
          <a:sy n="106" d="100"/>
        </p:scale>
        <p:origin x="756" y="114"/>
      </p:cViewPr>
      <p:guideLst>
        <p:guide orient="horz" pos="2160"/>
        <p:guide pos="3839"/>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smtClean="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B16593E1-4F76-4B72-9D47-429584678E6E}"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smtClean="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ED766207-BB5E-42BA-BE43-563840E45C83}"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1EE2AC39-0FD5-4874-9146-77B84E011511}" type="datetime1">
              <a:rPr lang="zh-CN" altLang="en-US"/>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C7FAA22-D154-4F07-803A-93CABEF51BE2}" type="slidenum">
              <a:rPr lang="zh-CN" altLang="en-US"/>
            </a:fld>
            <a:endParaRPr lang="zh-CN" altLang="en-US" sz="180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95350721-BC0F-44C9-88B3-56912B7571DC}" type="datetime1">
              <a:rPr lang="zh-CN" altLang="en-US"/>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F9D5CDB-EACB-486D-A694-C149A76D6BE6}" type="slidenum">
              <a:rPr lang="zh-CN" altLang="en-US"/>
            </a:fld>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noChangeArrowheads="1"/>
          </p:cNvSpPr>
          <p:nvPr>
            <p:ph type="dt" sz="half" idx="10"/>
          </p:nvPr>
        </p:nvSpPr>
        <p:spPr/>
        <p:txBody>
          <a:bodyPr/>
          <a:lstStyle>
            <a:lvl1pPr>
              <a:defRPr/>
            </a:lvl1pPr>
          </a:lstStyle>
          <a:p>
            <a:pPr>
              <a:defRPr/>
            </a:pPr>
            <a:fld id="{110AB19A-6999-4C1B-9554-7459DD5FC7BB}" type="datetime1">
              <a:rPr lang="zh-CN" altLang="en-US"/>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76AF40C-20E8-4765-8462-604A4D7D13F2}" type="slidenum">
              <a:rPr lang="zh-CN" altLang="en-US"/>
            </a:fld>
            <a:endParaRPr lang="zh-CN" altLang="en-US" sz="1800">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897862AB-0D16-4446-8AAF-7713E9E98D2F}" type="datetime1">
              <a:rPr lang="zh-CN" altLang="en-US"/>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2DF1CEB-BD98-4454-BD67-F66957FFC854}" type="slidenum">
              <a:rPr lang="zh-CN" altLang="en-US"/>
            </a:fld>
            <a:endParaRPr lang="zh-CN" altLang="en-US" sz="18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85F28D3A-E4AB-4059-938D-716E90DF3DCB}" type="datetime1">
              <a:rPr lang="zh-CN" altLang="en-US"/>
            </a:fld>
            <a:endParaRPr lang="zh-CN" altLang="en-US" sz="1800">
              <a:solidFill>
                <a:schemeClr val="tx1"/>
              </a:solidFill>
            </a:endParaRPr>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0531C7F-5C69-4374-A3E6-EFB4F462B872}" type="slidenum">
              <a:rPr lang="zh-CN" altLang="en-US"/>
            </a:fld>
            <a:endParaRPr lang="zh-CN" altLang="en-US" sz="1800">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063288A9-859A-462A-8322-25004A56DBBE}" type="datetime1">
              <a:rPr lang="zh-CN" altLang="en-US"/>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52E8125C-460D-43C6-A1C6-FF9528956C54}" type="slidenum">
              <a:rPr lang="zh-CN" altLang="en-US"/>
            </a:fld>
            <a:endParaRPr lang="zh-CN" altLang="en-US" sz="180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568C9FA3-7D91-4B6D-803C-86581023F1F6}" type="datetime1">
              <a:rPr lang="zh-CN" altLang="en-US"/>
            </a:fld>
            <a:endParaRPr lang="zh-CN" altLang="en-US" sz="1800">
              <a:solidFill>
                <a:schemeClr val="tx1"/>
              </a:solidFill>
            </a:endParaRPr>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1EE8C09C-A1A2-4B0D-A395-A762BA9BB76A}" type="slidenum">
              <a:rPr lang="zh-CN" altLang="en-US"/>
            </a:fld>
            <a:endParaRPr lang="zh-CN" altLang="en-US" sz="18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27744226-BB87-4D8E-A5BC-740842A448AF}" type="datetime1">
              <a:rPr lang="zh-CN" altLang="en-US"/>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836A49D-998D-4B83-9076-D0D1248BD4C9}" type="slidenum">
              <a:rPr lang="zh-CN" altLang="en-US"/>
            </a:fld>
            <a:endParaRPr lang="zh-CN" altLang="en-US" sz="180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3"/>
          <p:cNvSpPr>
            <a:spLocks noGrp="1" noChangeArrowheads="1"/>
          </p:cNvSpPr>
          <p:nvPr>
            <p:ph type="dt" sz="half" idx="10"/>
          </p:nvPr>
        </p:nvSpPr>
        <p:spPr/>
        <p:txBody>
          <a:bodyPr/>
          <a:lstStyle>
            <a:lvl1pPr>
              <a:defRPr/>
            </a:lvl1pPr>
          </a:lstStyle>
          <a:p>
            <a:pPr>
              <a:defRPr/>
            </a:pPr>
            <a:fld id="{6A05A648-15D1-4D5E-B579-ACB9CEB8CBA1}" type="datetime1">
              <a:rPr lang="zh-CN" altLang="en-US"/>
            </a:fld>
            <a:endParaRPr lang="zh-CN" altLang="en-US" sz="1800">
              <a:solidFill>
                <a:schemeClr val="tx1"/>
              </a:solidFill>
            </a:endParaRPr>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99A7EF8-5187-42EC-ACBC-5362770158A2}" type="slidenum">
              <a:rPr lang="zh-CN" altLang="en-US"/>
            </a:fld>
            <a:endParaRPr lang="zh-CN" altLang="en-US" sz="180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7F247DCA-1848-4234-B503-FE2E2AB05BA5}" type="datetime1">
              <a:rPr lang="zh-CN" altLang="en-US"/>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DF14DB5-7C00-4113-B42B-462F171906B0}" type="slidenum">
              <a:rPr lang="zh-CN" altLang="en-US"/>
            </a:fld>
            <a:endParaRPr lang="zh-CN" altLang="en-US" sz="1800">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BF857D41-3466-4253-AA07-F0EB409F0D49}" type="datetime1">
              <a:rPr lang="zh-CN" altLang="en-US"/>
            </a:fld>
            <a:endParaRPr lang="zh-CN" altLang="en-US" sz="1800">
              <a:solidFill>
                <a:schemeClr val="tx1"/>
              </a:solidFill>
            </a:endParaRPr>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B5AF21D-F889-4752-AE2F-B44E0080EE1F}" type="slidenum">
              <a:rPr lang="zh-CN" altLang="en-US"/>
            </a:fld>
            <a:endParaRPr lang="zh-CN" altLang="en-US" sz="1800">
              <a:solidFill>
                <a:schemeClr val="tx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1D0B2FF9-3541-4CDC-A6D3-8B444A66CB1D}" type="datetime1">
              <a:rPr lang="zh-CN" altLang="en-US"/>
            </a:fld>
            <a:endParaRPr lang="zh-CN" altLang="en-US" sz="1800">
              <a:solidFill>
                <a:schemeClr val="tx1"/>
              </a:solidFill>
            </a:endParaRPr>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815DD2E3-5919-424F-91EA-78784D33740B}" type="slidenum">
              <a:rPr lang="zh-CN" altLang="en-US"/>
            </a:fld>
            <a:endParaRPr lang="zh-CN" altLang="en-US" sz="180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smtClean="0">
                <a:sym typeface="Calibri Light" panose="020F0302020204030204" pitchFamily="34" charset="0"/>
              </a:rPr>
              <a:t>单击此处编辑母版标题样式</a:t>
            </a:r>
            <a:endParaRPr lang="zh-CN" altLang="zh-CN" smtClean="0">
              <a:sym typeface="Calibri Light" panose="020F0302020204030204" pitchFamily="34" charset="0"/>
            </a:endParaRP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smtClean="0">
                <a:sym typeface="Calibri" panose="020F0502020204030204" pitchFamily="34" charset="0"/>
              </a:rPr>
              <a:t>单击此处编辑母版文本样式</a:t>
            </a:r>
            <a:endParaRPr lang="zh-CN" altLang="zh-CN" smtClean="0">
              <a:sym typeface="Calibri" panose="020F0502020204030204" pitchFamily="34" charset="0"/>
            </a:endParaRPr>
          </a:p>
          <a:p>
            <a:pPr lvl="1"/>
            <a:r>
              <a:rPr lang="zh-CN" altLang="zh-CN" smtClean="0">
                <a:sym typeface="Calibri" panose="020F0502020204030204" pitchFamily="34" charset="0"/>
              </a:rPr>
              <a:t>第二级</a:t>
            </a:r>
            <a:endParaRPr lang="zh-CN" altLang="zh-CN" smtClean="0">
              <a:sym typeface="Calibri" panose="020F0502020204030204" pitchFamily="34" charset="0"/>
            </a:endParaRPr>
          </a:p>
          <a:p>
            <a:pPr lvl="2"/>
            <a:r>
              <a:rPr lang="zh-CN" altLang="zh-CN" smtClean="0">
                <a:sym typeface="Calibri" panose="020F0502020204030204" pitchFamily="34" charset="0"/>
              </a:rPr>
              <a:t>第三级</a:t>
            </a:r>
            <a:endParaRPr lang="zh-CN" altLang="zh-CN" smtClean="0">
              <a:sym typeface="Calibri" panose="020F0502020204030204" pitchFamily="34" charset="0"/>
            </a:endParaRPr>
          </a:p>
          <a:p>
            <a:pPr lvl="3"/>
            <a:r>
              <a:rPr lang="zh-CN" altLang="zh-CN" smtClean="0">
                <a:sym typeface="Calibri" panose="020F0502020204030204" pitchFamily="34" charset="0"/>
              </a:rPr>
              <a:t>第四级</a:t>
            </a:r>
            <a:endParaRPr lang="zh-CN" altLang="zh-CN" smtClean="0">
              <a:sym typeface="Calibri" panose="020F0502020204030204" pitchFamily="34" charset="0"/>
            </a:endParaRPr>
          </a:p>
          <a:p>
            <a:pPr lvl="4"/>
            <a:r>
              <a:rPr lang="zh-CN" altLang="zh-CN" smtClean="0">
                <a:sym typeface="Calibri" panose="020F0502020204030204" pitchFamily="34" charset="0"/>
              </a:rPr>
              <a:t>第五级</a:t>
            </a:r>
            <a:endParaRPr lang="zh-CN" altLang="zh-CN" smtClean="0">
              <a:sym typeface="Calibri" panose="020F0502020204030204" pitchFamily="34" charset="0"/>
            </a:endParaRP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a:defRPr/>
            </a:pPr>
            <a:fld id="{1FEE9C71-3AC3-423A-BB65-ACFB6ACBD2C0}" type="datetime1">
              <a:rPr lang="zh-CN" altLang="en-US"/>
            </a:fld>
            <a:endParaRPr lang="zh-CN" altLang="en-US" sz="1800">
              <a:solidFill>
                <a:schemeClr val="tx1"/>
              </a:solidFill>
            </a:endParaRPr>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a:defRPr/>
            </a:pPr>
            <a:endParaRPr lang="zh-CN" altLang="zh-CN"/>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a:solidFill>
                  <a:srgbClr val="898989"/>
                </a:solidFill>
              </a:defRPr>
            </a:lvl1pPr>
          </a:lstStyle>
          <a:p>
            <a:pPr>
              <a:defRPr/>
            </a:pPr>
            <a:fld id="{10131683-B41D-4201-8835-BB80A50F39CC}" type="slidenum">
              <a:rPr lang="zh-CN" altLang="en-US"/>
            </a:fld>
            <a:endParaRPr lang="zh-CN" altLang="en-US" sz="1800">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marL="914400" indent="-914400" algn="l" rtl="0" eaLnBrk="0" fontAlgn="base" hangingPunct="0">
        <a:lnSpc>
          <a:spcPct val="90000"/>
        </a:lnSpc>
        <a:spcBef>
          <a:spcPct val="0"/>
        </a:spcBef>
        <a:spcAft>
          <a:spcPct val="0"/>
        </a:spcAft>
        <a:defRPr sz="4400">
          <a:solidFill>
            <a:schemeClr val="tx1"/>
          </a:solidFill>
          <a:latin typeface="+mj-lt"/>
          <a:ea typeface="+mj-ea"/>
          <a:cs typeface="+mj-cs"/>
          <a:sym typeface="Calibri Light" panose="020F0302020204030204" pitchFamily="34" charset="0"/>
        </a:defRPr>
      </a:lvl1pPr>
      <a:lvl2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2pPr>
      <a:lvl3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3pPr>
      <a:lvl4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4pPr>
      <a:lvl5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sym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xml"/><Relationship Id="rId7" Type="http://schemas.microsoft.com/office/2007/relationships/media" Target="../media/media1.mp4"/><Relationship Id="rId6" Type="http://schemas.openxmlformats.org/officeDocument/2006/relationships/video" Target="../media/media1.mp4"/><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12.xml"/><Relationship Id="rId10" Type="http://schemas.openxmlformats.org/officeDocument/2006/relationships/image" Target="../media/image7.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webp"/><Relationship Id="rId5" Type="http://schemas.openxmlformats.org/officeDocument/2006/relationships/image" Target="../media/image8.png"/><Relationship Id="rId4" Type="http://schemas.openxmlformats.org/officeDocument/2006/relationships/hyperlink" Target="https://user-henry.github.io/nflshcchat/presentation" TargetMode="External"/><Relationship Id="rId3" Type="http://schemas.openxmlformats.org/officeDocument/2006/relationships/hyperlink" Target="https://user-henry.github.io/nflshcchat" TargetMode="External"/><Relationship Id="rId2" Type="http://schemas.openxmlformats.org/officeDocument/2006/relationships/hyperlink" Target="https://meeting.tencent.com/crm/2pO7RPvgf4" TargetMode="Externa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meeting.tencent.com/crm/KnZqo4g10c" TargetMode="External"/><Relationship Id="rId3" Type="http://schemas.openxmlformats.org/officeDocument/2006/relationships/image" Target="../media/image10.jpeg"/><Relationship Id="rId2" Type="http://schemas.openxmlformats.org/officeDocument/2006/relationships/hyperlink" Target="http://user-henry.github.io/nflshcchat/NFLSHC%20Chat.apk" TargetMode="Externa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hyperlink" Target="https://open.weixin.qq.com/sns/getexpappinfo?appid=wx858e51a6f8256fd8&amp;path=pages%2Findex%2Findex.html&amp;token=259642739e3646cd9b9c6b02938d8c82#wechat-redirect" TargetMode="External"/><Relationship Id="rId2" Type="http://schemas.openxmlformats.org/officeDocument/2006/relationships/hyperlink" Target="https://meeting.tencent.com/crm/KWLE4mw4b7" TargetMode="Externa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hyperlink" Target="https://riverside-imminent-pregnancy.ngrok-free.dev/" TargetMode="External"/><Relationship Id="rId3" Type="http://schemas.openxmlformats.org/officeDocument/2006/relationships/hyperlink" Target="https://meeting.tencent.com/crm/2jxRDLoVc8" TargetMode="External"/><Relationship Id="rId2" Type="http://schemas.openxmlformats.org/officeDocument/2006/relationships/hyperlink" Target="https://ngrok.com/download/windows?tab=download" TargetMode="Externa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hyperlink" Target="https://user-henry.github.io/nflshcchat/notice" TargetMode="Externa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0">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8434" name="组合 6"/>
          <p:cNvGrpSpPr/>
          <p:nvPr/>
        </p:nvGrpSpPr>
        <p:grpSpPr bwMode="auto">
          <a:xfrm>
            <a:off x="8674100" y="92075"/>
            <a:ext cx="3630613" cy="920750"/>
            <a:chOff x="0" y="0"/>
            <a:chExt cx="3965717" cy="921247"/>
          </a:xfrm>
        </p:grpSpPr>
        <p:sp>
          <p:nvSpPr>
            <p:cNvPr id="18452" name="等腰三角形 3"/>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8453" name="等腰三角形 4"/>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8435" name="文本框 10"/>
          <p:cNvSpPr>
            <a:spLocks noChangeArrowheads="1"/>
          </p:cNvSpPr>
          <p:nvPr/>
        </p:nvSpPr>
        <p:spPr bwMode="auto">
          <a:xfrm>
            <a:off x="4070350" y="247650"/>
            <a:ext cx="407987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Question and Answer</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8436" name="组合 11"/>
          <p:cNvGrpSpPr/>
          <p:nvPr/>
        </p:nvGrpSpPr>
        <p:grpSpPr bwMode="auto">
          <a:xfrm flipH="1">
            <a:off x="-12700" y="92075"/>
            <a:ext cx="3630613" cy="920750"/>
            <a:chOff x="0" y="0"/>
            <a:chExt cx="3965717" cy="921247"/>
          </a:xfrm>
        </p:grpSpPr>
        <p:sp>
          <p:nvSpPr>
            <p:cNvPr id="18450" name="等腰三角形 1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8451" name="等腰三角形 1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8438" name="任意多边形 15"/>
          <p:cNvSpPr>
            <a:spLocks noChangeArrowheads="1"/>
          </p:cNvSpPr>
          <p:nvPr/>
        </p:nvSpPr>
        <p:spPr bwMode="auto">
          <a:xfrm>
            <a:off x="889000" y="2400300"/>
            <a:ext cx="5137150" cy="1678305"/>
          </a:xfrm>
          <a:custGeom>
            <a:avLst/>
            <a:gdLst>
              <a:gd name="T0" fmla="*/ 4966140 w 4963098"/>
              <a:gd name="T1" fmla="*/ 0 h 1676733"/>
              <a:gd name="T2" fmla="*/ 4966140 w 4963098"/>
              <a:gd name="T3" fmla="*/ 530759 h 1676733"/>
              <a:gd name="T4" fmla="*/ 4907858 w 4963098"/>
              <a:gd name="T5" fmla="*/ 533707 h 1676733"/>
              <a:gd name="T6" fmla="*/ 3825061 w 4963098"/>
              <a:gd name="T7" fmla="*/ 1618272 h 1676733"/>
              <a:gd name="T8" fmla="*/ 3822086 w 4963098"/>
              <a:gd name="T9" fmla="*/ 1677300 h 1676733"/>
              <a:gd name="T10" fmla="*/ 3463778 w 4963098"/>
              <a:gd name="T11" fmla="*/ 1677300 h 1676733"/>
              <a:gd name="T12" fmla="*/ 3463778 w 4963098"/>
              <a:gd name="T13" fmla="*/ 1680501 h 1676733"/>
              <a:gd name="T14" fmla="*/ 0 w 4963098"/>
              <a:gd name="T15" fmla="*/ 1680501 h 1676733"/>
              <a:gd name="T16" fmla="*/ 0 w 4963098"/>
              <a:gd name="T17" fmla="*/ 1213510 h 1676733"/>
              <a:gd name="T18" fmla="*/ 3319370 w 4963098"/>
              <a:gd name="T19" fmla="*/ 1213510 h 1676733"/>
              <a:gd name="T20" fmla="*/ 3399266 w 4963098"/>
              <a:gd name="T21" fmla="*/ 999545 h 1676733"/>
              <a:gd name="T22" fmla="*/ 4801423 w 4963098"/>
              <a:gd name="T23" fmla="*/ 8330 h 16767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63098"/>
              <a:gd name="T37" fmla="*/ 0 h 1676733"/>
              <a:gd name="T38" fmla="*/ 4963098 w 4963098"/>
              <a:gd name="T39" fmla="*/ 1676733 h 16767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63098" h="1676733">
                <a:moveTo>
                  <a:pt x="4963098" y="0"/>
                </a:moveTo>
                <a:lnTo>
                  <a:pt x="4963098" y="529569"/>
                </a:lnTo>
                <a:lnTo>
                  <a:pt x="4904851" y="532510"/>
                </a:lnTo>
                <a:cubicBezTo>
                  <a:pt x="4334273" y="590456"/>
                  <a:pt x="3880663" y="1044066"/>
                  <a:pt x="3822718" y="1614644"/>
                </a:cubicBezTo>
                <a:lnTo>
                  <a:pt x="3819744" y="1673539"/>
                </a:lnTo>
                <a:lnTo>
                  <a:pt x="3461656" y="1673539"/>
                </a:lnTo>
                <a:lnTo>
                  <a:pt x="3461656" y="1676733"/>
                </a:lnTo>
                <a:lnTo>
                  <a:pt x="0" y="1676733"/>
                </a:lnTo>
                <a:lnTo>
                  <a:pt x="0" y="1210789"/>
                </a:lnTo>
                <a:lnTo>
                  <a:pt x="3317336" y="1210789"/>
                </a:lnTo>
                <a:lnTo>
                  <a:pt x="3397184" y="997304"/>
                </a:lnTo>
                <a:cubicBezTo>
                  <a:pt x="3653890" y="458266"/>
                  <a:pt x="4178296" y="71296"/>
                  <a:pt x="4798481" y="8312"/>
                </a:cubicBezTo>
                <a:lnTo>
                  <a:pt x="4963098" y="0"/>
                </a:lnTo>
                <a:close/>
              </a:path>
            </a:pathLst>
          </a:custGeom>
          <a:solidFill>
            <a:srgbClr val="FCFCFC">
              <a:alpha val="34117"/>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8439" name="任意多边形 16"/>
          <p:cNvSpPr>
            <a:spLocks noChangeArrowheads="1"/>
          </p:cNvSpPr>
          <p:nvPr/>
        </p:nvSpPr>
        <p:spPr bwMode="auto">
          <a:xfrm rot="10800000" flipV="1">
            <a:off x="6172200" y="2403475"/>
            <a:ext cx="5139690" cy="1673225"/>
          </a:xfrm>
          <a:custGeom>
            <a:avLst/>
            <a:gdLst>
              <a:gd name="T0" fmla="*/ 4946412 w 4946769"/>
              <a:gd name="T1" fmla="*/ 0 h 1673539"/>
              <a:gd name="T2" fmla="*/ 4781807 w 4946769"/>
              <a:gd name="T3" fmla="*/ 8306 h 1673539"/>
              <a:gd name="T4" fmla="*/ 3380612 w 4946769"/>
              <a:gd name="T5" fmla="*/ 996743 h 1673539"/>
              <a:gd name="T6" fmla="*/ 3303159 w 4946769"/>
              <a:gd name="T7" fmla="*/ 1203723 h 1673539"/>
              <a:gd name="T8" fmla="*/ 0 w 4946769"/>
              <a:gd name="T9" fmla="*/ 1203723 h 1673539"/>
              <a:gd name="T10" fmla="*/ 0 w 4946769"/>
              <a:gd name="T11" fmla="*/ 1669406 h 1673539"/>
              <a:gd name="T12" fmla="*/ 3215272 w 4946769"/>
              <a:gd name="T13" fmla="*/ 1669406 h 1673539"/>
              <a:gd name="T14" fmla="*/ 3215121 w 4946769"/>
              <a:gd name="T15" fmla="*/ 1672597 h 1673539"/>
              <a:gd name="T16" fmla="*/ 3803142 w 4946769"/>
              <a:gd name="T17" fmla="*/ 1672597 h 1673539"/>
              <a:gd name="T18" fmla="*/ 3806113 w 4946769"/>
              <a:gd name="T19" fmla="*/ 1613735 h 1673539"/>
              <a:gd name="T20" fmla="*/ 4888168 w 4946769"/>
              <a:gd name="T21" fmla="*/ 532210 h 1673539"/>
              <a:gd name="T22" fmla="*/ 4946412 w 4946769"/>
              <a:gd name="T23" fmla="*/ 529272 h 16735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46769"/>
              <a:gd name="T37" fmla="*/ 0 h 1673539"/>
              <a:gd name="T38" fmla="*/ 4946769 w 4946769"/>
              <a:gd name="T39" fmla="*/ 1673539 h 16735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46769" h="1673539">
                <a:moveTo>
                  <a:pt x="4946769" y="0"/>
                </a:moveTo>
                <a:lnTo>
                  <a:pt x="4782152" y="8312"/>
                </a:lnTo>
                <a:cubicBezTo>
                  <a:pt x="4161967" y="71296"/>
                  <a:pt x="3637561" y="458266"/>
                  <a:pt x="3380855" y="997304"/>
                </a:cubicBezTo>
                <a:lnTo>
                  <a:pt x="3303396" y="1204401"/>
                </a:lnTo>
                <a:lnTo>
                  <a:pt x="0" y="1204401"/>
                </a:lnTo>
                <a:lnTo>
                  <a:pt x="0" y="1670345"/>
                </a:lnTo>
                <a:lnTo>
                  <a:pt x="3215503" y="1670345"/>
                </a:lnTo>
                <a:lnTo>
                  <a:pt x="3215352" y="1673539"/>
                </a:lnTo>
                <a:lnTo>
                  <a:pt x="3803415" y="1673539"/>
                </a:lnTo>
                <a:lnTo>
                  <a:pt x="3806389" y="1614644"/>
                </a:lnTo>
                <a:cubicBezTo>
                  <a:pt x="3864334" y="1044066"/>
                  <a:pt x="4317944" y="590456"/>
                  <a:pt x="4888522" y="532510"/>
                </a:cubicBezTo>
                <a:lnTo>
                  <a:pt x="4946769" y="529569"/>
                </a:lnTo>
                <a:lnTo>
                  <a:pt x="4946769" y="0"/>
                </a:lnTo>
                <a:close/>
              </a:path>
            </a:pathLst>
          </a:custGeom>
          <a:solidFill>
            <a:srgbClr val="FCFCFC">
              <a:alpha val="74117"/>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8440" name="任意多边形 17"/>
          <p:cNvSpPr>
            <a:spLocks noChangeArrowheads="1"/>
          </p:cNvSpPr>
          <p:nvPr/>
        </p:nvSpPr>
        <p:spPr bwMode="auto">
          <a:xfrm rot="10800000">
            <a:off x="6172200" y="4215130"/>
            <a:ext cx="5139690" cy="1764030"/>
          </a:xfrm>
          <a:custGeom>
            <a:avLst/>
            <a:gdLst>
              <a:gd name="T0" fmla="*/ 3461407 w 4946769"/>
              <a:gd name="T1" fmla="*/ 1675734 h 1676733"/>
              <a:gd name="T2" fmla="*/ 0 w 4946769"/>
              <a:gd name="T3" fmla="*/ 1675734 h 1676733"/>
              <a:gd name="T4" fmla="*/ 0 w 4946769"/>
              <a:gd name="T5" fmla="*/ 1210069 h 1676733"/>
              <a:gd name="T6" fmla="*/ 3300770 w 4946769"/>
              <a:gd name="T7" fmla="*/ 1210069 h 1676733"/>
              <a:gd name="T8" fmla="*/ 3380612 w 4946769"/>
              <a:gd name="T9" fmla="*/ 996710 h 1676733"/>
              <a:gd name="T10" fmla="*/ 4781807 w 4946769"/>
              <a:gd name="T11" fmla="*/ 8306 h 1676733"/>
              <a:gd name="T12" fmla="*/ 4946412 w 4946769"/>
              <a:gd name="T13" fmla="*/ 0 h 1676733"/>
              <a:gd name="T14" fmla="*/ 4946412 w 4946769"/>
              <a:gd name="T15" fmla="*/ 529254 h 1676733"/>
              <a:gd name="T16" fmla="*/ 4888168 w 4946769"/>
              <a:gd name="T17" fmla="*/ 532192 h 1676733"/>
              <a:gd name="T18" fmla="*/ 3806113 w 4946769"/>
              <a:gd name="T19" fmla="*/ 1613681 h 1676733"/>
              <a:gd name="T20" fmla="*/ 3803142 w 4946769"/>
              <a:gd name="T21" fmla="*/ 1672543 h 1676733"/>
              <a:gd name="T22" fmla="*/ 3461407 w 4946769"/>
              <a:gd name="T23" fmla="*/ 1672543 h 16767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46769"/>
              <a:gd name="T37" fmla="*/ 0 h 1676733"/>
              <a:gd name="T38" fmla="*/ 4946769 w 4946769"/>
              <a:gd name="T39" fmla="*/ 1676733 h 16767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46769" h="1676733">
                <a:moveTo>
                  <a:pt x="3461656" y="1676733"/>
                </a:moveTo>
                <a:lnTo>
                  <a:pt x="0" y="1676733"/>
                </a:lnTo>
                <a:lnTo>
                  <a:pt x="0" y="1210789"/>
                </a:lnTo>
                <a:lnTo>
                  <a:pt x="3301007" y="1210789"/>
                </a:lnTo>
                <a:lnTo>
                  <a:pt x="3380855" y="997304"/>
                </a:lnTo>
                <a:cubicBezTo>
                  <a:pt x="3637561" y="458266"/>
                  <a:pt x="4161967" y="71296"/>
                  <a:pt x="4782152" y="8312"/>
                </a:cubicBezTo>
                <a:lnTo>
                  <a:pt x="4946769" y="0"/>
                </a:lnTo>
                <a:lnTo>
                  <a:pt x="4946769" y="529569"/>
                </a:lnTo>
                <a:lnTo>
                  <a:pt x="4888522" y="532510"/>
                </a:lnTo>
                <a:cubicBezTo>
                  <a:pt x="4317944" y="590456"/>
                  <a:pt x="3864334" y="1044066"/>
                  <a:pt x="3806389" y="1614644"/>
                </a:cubicBezTo>
                <a:lnTo>
                  <a:pt x="3803415" y="1673539"/>
                </a:lnTo>
                <a:lnTo>
                  <a:pt x="3461656" y="1673539"/>
                </a:lnTo>
                <a:lnTo>
                  <a:pt x="3461656" y="1676733"/>
                </a:lnTo>
                <a:close/>
              </a:path>
            </a:pathLst>
          </a:custGeom>
          <a:solidFill>
            <a:srgbClr val="FCFCFC">
              <a:alpha val="34117"/>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8441" name="任意多边形 18"/>
          <p:cNvSpPr>
            <a:spLocks noChangeArrowheads="1"/>
          </p:cNvSpPr>
          <p:nvPr/>
        </p:nvSpPr>
        <p:spPr bwMode="auto">
          <a:xfrm flipV="1">
            <a:off x="889000" y="4218305"/>
            <a:ext cx="5137150" cy="1760220"/>
          </a:xfrm>
          <a:custGeom>
            <a:avLst/>
            <a:gdLst>
              <a:gd name="T0" fmla="*/ 3233663 w 4963097"/>
              <a:gd name="T1" fmla="*/ 1672597 h 1673539"/>
              <a:gd name="T2" fmla="*/ 3822086 w 4963097"/>
              <a:gd name="T3" fmla="*/ 1672597 h 1673539"/>
              <a:gd name="T4" fmla="*/ 3825063 w 4963097"/>
              <a:gd name="T5" fmla="*/ 1613735 h 1673539"/>
              <a:gd name="T6" fmla="*/ 4907859 w 4963097"/>
              <a:gd name="T7" fmla="*/ 532210 h 1673539"/>
              <a:gd name="T8" fmla="*/ 4966142 w 4963097"/>
              <a:gd name="T9" fmla="*/ 529272 h 1673539"/>
              <a:gd name="T10" fmla="*/ 4966142 w 4963097"/>
              <a:gd name="T11" fmla="*/ 0 h 1673539"/>
              <a:gd name="T12" fmla="*/ 4801425 w 4963097"/>
              <a:gd name="T13" fmla="*/ 8306 h 1673539"/>
              <a:gd name="T14" fmla="*/ 3399268 w 4963097"/>
              <a:gd name="T15" fmla="*/ 996743 h 1673539"/>
              <a:gd name="T16" fmla="*/ 3321975 w 4963097"/>
              <a:gd name="T17" fmla="*/ 1203150 h 1673539"/>
              <a:gd name="T18" fmla="*/ 0 w 4963097"/>
              <a:gd name="T19" fmla="*/ 1203150 h 1673539"/>
              <a:gd name="T20" fmla="*/ 0 w 4963097"/>
              <a:gd name="T21" fmla="*/ 1668833 h 1673539"/>
              <a:gd name="T22" fmla="*/ 3233842 w 4963097"/>
              <a:gd name="T23" fmla="*/ 1668833 h 16735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63097"/>
              <a:gd name="T37" fmla="*/ 0 h 1673539"/>
              <a:gd name="T38" fmla="*/ 4963097 w 4963097"/>
              <a:gd name="T39" fmla="*/ 1673539 h 16735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63097" h="1673539">
                <a:moveTo>
                  <a:pt x="3231680" y="1673539"/>
                </a:moveTo>
                <a:lnTo>
                  <a:pt x="3819743" y="1673539"/>
                </a:lnTo>
                <a:lnTo>
                  <a:pt x="3822717" y="1614644"/>
                </a:lnTo>
                <a:cubicBezTo>
                  <a:pt x="3880662" y="1044066"/>
                  <a:pt x="4334272" y="590456"/>
                  <a:pt x="4904850" y="532510"/>
                </a:cubicBezTo>
                <a:lnTo>
                  <a:pt x="4963097" y="529569"/>
                </a:lnTo>
                <a:lnTo>
                  <a:pt x="4963097" y="0"/>
                </a:lnTo>
                <a:lnTo>
                  <a:pt x="4798480" y="8312"/>
                </a:lnTo>
                <a:cubicBezTo>
                  <a:pt x="4178295" y="71296"/>
                  <a:pt x="3653889" y="458266"/>
                  <a:pt x="3397183" y="997304"/>
                </a:cubicBezTo>
                <a:lnTo>
                  <a:pt x="3319938" y="1203828"/>
                </a:lnTo>
                <a:lnTo>
                  <a:pt x="0" y="1203828"/>
                </a:lnTo>
                <a:lnTo>
                  <a:pt x="0" y="1669772"/>
                </a:lnTo>
                <a:lnTo>
                  <a:pt x="3231859" y="1669772"/>
                </a:lnTo>
                <a:lnTo>
                  <a:pt x="3231680" y="1673539"/>
                </a:lnTo>
                <a:close/>
              </a:path>
            </a:pathLst>
          </a:custGeom>
          <a:solidFill>
            <a:srgbClr val="FCFCFC">
              <a:alpha val="74117"/>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8442" name="文本框 19"/>
          <p:cNvSpPr>
            <a:spLocks noChangeArrowheads="1"/>
          </p:cNvSpPr>
          <p:nvPr/>
        </p:nvSpPr>
        <p:spPr bwMode="auto">
          <a:xfrm>
            <a:off x="949325" y="3653473"/>
            <a:ext cx="341884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Why we can control movements</a:t>
            </a:r>
            <a:endPar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8443" name="文本框 20"/>
          <p:cNvSpPr>
            <a:spLocks noChangeArrowheads="1"/>
          </p:cNvSpPr>
          <p:nvPr/>
        </p:nvSpPr>
        <p:spPr bwMode="auto">
          <a:xfrm>
            <a:off x="7893050" y="4133215"/>
            <a:ext cx="341884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Why we cannot block negative</a:t>
            </a:r>
            <a:endPar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a:p>
            <a:pPr algn="l" eaLnBrk="1" hangingPunct="1">
              <a:lnSpc>
                <a:spcPct val="100000"/>
              </a:lnSpc>
              <a:spcBef>
                <a:spcPct val="0"/>
              </a:spcBef>
              <a:buFont typeface="Arial" panose="020B0604020202020204" pitchFamily="34" charset="0"/>
              <a:buNone/>
            </a:pPr>
            <a:r>
              <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information like pain</a:t>
            </a:r>
            <a:endParaRPr lang="en-US" altLang="zh-CN" sz="18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8444" name="文本框 21"/>
          <p:cNvSpPr>
            <a:spLocks noChangeArrowheads="1"/>
          </p:cNvSpPr>
          <p:nvPr/>
        </p:nvSpPr>
        <p:spPr bwMode="auto">
          <a:xfrm>
            <a:off x="830580" y="4270375"/>
            <a:ext cx="411226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1800" b="1">
                <a:solidFill>
                  <a:srgbClr val="32446C"/>
                </a:solidFill>
                <a:latin typeface="方正姚体简体" panose="03000509000000000000" pitchFamily="65" charset="-122"/>
                <a:ea typeface="方正姚体简体" panose="03000509000000000000" pitchFamily="65" charset="-122"/>
                <a:sym typeface="方正姚体" panose="02010601030101010101" pitchFamily="2" charset="-122"/>
              </a:rPr>
              <a:t>Why we cannot stop aging and death</a:t>
            </a:r>
            <a:endParaRPr lang="en-US" altLang="zh-CN" sz="1800" b="1">
              <a:solidFill>
                <a:srgbClr val="32446C"/>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8445" name="文本框 22"/>
          <p:cNvSpPr>
            <a:spLocks noChangeArrowheads="1"/>
          </p:cNvSpPr>
          <p:nvPr/>
        </p:nvSpPr>
        <p:spPr bwMode="auto">
          <a:xfrm>
            <a:off x="7314565" y="3640138"/>
            <a:ext cx="399669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1800" b="1">
                <a:solidFill>
                  <a:srgbClr val="32446C"/>
                </a:solidFill>
                <a:latin typeface="方正姚体简体" panose="03000509000000000000" pitchFamily="65" charset="-122"/>
                <a:ea typeface="方正姚体简体" panose="03000509000000000000" pitchFamily="65" charset="-122"/>
                <a:sym typeface="方正姚体" panose="02010601030101010101" pitchFamily="2" charset="-122"/>
              </a:rPr>
              <a:t>Why we cannot control cell growth</a:t>
            </a:r>
            <a:endParaRPr lang="en-US" altLang="zh-CN" sz="1800" b="1">
              <a:solidFill>
                <a:srgbClr val="32446C"/>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grpSp>
        <p:nvGrpSpPr>
          <p:cNvPr id="19463" name="组合 10"/>
          <p:cNvGrpSpPr/>
          <p:nvPr/>
        </p:nvGrpSpPr>
        <p:grpSpPr bwMode="auto">
          <a:xfrm>
            <a:off x="5453380" y="3331845"/>
            <a:ext cx="1454150" cy="1602740"/>
            <a:chOff x="0" y="0"/>
            <a:chExt cx="402656" cy="450303"/>
          </a:xfrm>
        </p:grpSpPr>
        <p:sp>
          <p:nvSpPr>
            <p:cNvPr id="19494" name="Freeform 108"/>
            <p:cNvSpPr>
              <a:spLocks noEditPoints="1" noChangeArrowheads="1"/>
            </p:cNvSpPr>
            <p:nvPr/>
          </p:nvSpPr>
          <p:spPr bwMode="auto">
            <a:xfrm>
              <a:off x="69134" y="167228"/>
              <a:ext cx="56988" cy="57923"/>
            </a:xfrm>
            <a:custGeom>
              <a:avLst/>
              <a:gdLst>
                <a:gd name="T0" fmla="*/ 2147483646 w 26"/>
                <a:gd name="T1" fmla="*/ 0 h 26"/>
                <a:gd name="T2" fmla="*/ 0 w 26"/>
                <a:gd name="T3" fmla="*/ 2147483646 h 26"/>
                <a:gd name="T4" fmla="*/ 2147483646 w 26"/>
                <a:gd name="T5" fmla="*/ 2147483646 h 26"/>
                <a:gd name="T6" fmla="*/ 2147483646 w 26"/>
                <a:gd name="T7" fmla="*/ 2147483646 h 26"/>
                <a:gd name="T8" fmla="*/ 2147483646 w 26"/>
                <a:gd name="T9" fmla="*/ 0 h 26"/>
                <a:gd name="T10" fmla="*/ 2147483646 w 26"/>
                <a:gd name="T11" fmla="*/ 2147483646 h 26"/>
                <a:gd name="T12" fmla="*/ 2147483646 w 26"/>
                <a:gd name="T13" fmla="*/ 2147483646 h 26"/>
                <a:gd name="T14" fmla="*/ 2147483646 w 26"/>
                <a:gd name="T15" fmla="*/ 2147483646 h 26"/>
                <a:gd name="T16" fmla="*/ 2147483646 w 26"/>
                <a:gd name="T17" fmla="*/ 2147483646 h 26"/>
                <a:gd name="T18" fmla="*/ 2147483646 w 26"/>
                <a:gd name="T19" fmla="*/ 2147483646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6"/>
                <a:gd name="T32" fmla="*/ 26 w 26"/>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solidFill>
              <a:srgbClr val="FCFCFC">
                <a:alpha val="89018"/>
              </a:srgbClr>
            </a:solidFill>
            <a:ln>
              <a:noFill/>
            </a:ln>
            <a:extLst>
              <a:ext uri="{91240B29-F687-4F45-9708-019B960494DF}">
                <a14:hiddenLine xmlns:a14="http://schemas.microsoft.com/office/drawing/2010/main" w="9525">
                  <a:solidFill>
                    <a:srgbClr val="000000"/>
                  </a:solidFill>
                  <a:bevel/>
                </a14:hiddenLine>
              </a:ext>
            </a:extLst>
          </p:spPr>
          <p:txBody>
            <a:bodyPr/>
            <a:p>
              <a:endParaRPr lang="zh-CN" altLang="en-US"/>
            </a:p>
          </p:txBody>
        </p:sp>
        <p:sp>
          <p:nvSpPr>
            <p:cNvPr id="19495" name="Freeform 109"/>
            <p:cNvSpPr>
              <a:spLocks noEditPoints="1" noChangeArrowheads="1"/>
            </p:cNvSpPr>
            <p:nvPr/>
          </p:nvSpPr>
          <p:spPr bwMode="auto">
            <a:xfrm>
              <a:off x="197125" y="129859"/>
              <a:ext cx="48580" cy="48580"/>
            </a:xfrm>
            <a:custGeom>
              <a:avLst/>
              <a:gdLst>
                <a:gd name="T0" fmla="*/ 2147483646 w 22"/>
                <a:gd name="T1" fmla="*/ 0 h 22"/>
                <a:gd name="T2" fmla="*/ 0 w 22"/>
                <a:gd name="T3" fmla="*/ 2147483646 h 22"/>
                <a:gd name="T4" fmla="*/ 2147483646 w 22"/>
                <a:gd name="T5" fmla="*/ 2147483646 h 22"/>
                <a:gd name="T6" fmla="*/ 2147483646 w 22"/>
                <a:gd name="T7" fmla="*/ 2147483646 h 22"/>
                <a:gd name="T8" fmla="*/ 2147483646 w 22"/>
                <a:gd name="T9" fmla="*/ 0 h 22"/>
                <a:gd name="T10" fmla="*/ 2147483646 w 22"/>
                <a:gd name="T11" fmla="*/ 2147483646 h 22"/>
                <a:gd name="T12" fmla="*/ 2147483646 w 22"/>
                <a:gd name="T13" fmla="*/ 2147483646 h 22"/>
                <a:gd name="T14" fmla="*/ 2147483646 w 22"/>
                <a:gd name="T15" fmla="*/ 2147483646 h 22"/>
                <a:gd name="T16" fmla="*/ 2147483646 w 22"/>
                <a:gd name="T17" fmla="*/ 2147483646 h 22"/>
                <a:gd name="T18" fmla="*/ 2147483646 w 22"/>
                <a:gd name="T19" fmla="*/ 2147483646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2"/>
                <a:gd name="T31" fmla="*/ 0 h 22"/>
                <a:gd name="T32" fmla="*/ 22 w 22"/>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solidFill>
              <a:srgbClr val="FCFCFC">
                <a:alpha val="89018"/>
              </a:srgbClr>
            </a:solidFill>
            <a:ln>
              <a:noFill/>
            </a:ln>
            <a:extLst>
              <a:ext uri="{91240B29-F687-4F45-9708-019B960494DF}">
                <a14:hiddenLine xmlns:a14="http://schemas.microsoft.com/office/drawing/2010/main" w="9525">
                  <a:solidFill>
                    <a:srgbClr val="000000"/>
                  </a:solidFill>
                  <a:bevel/>
                </a14:hiddenLine>
              </a:ext>
            </a:extLst>
          </p:spPr>
          <p:txBody>
            <a:bodyPr/>
            <a:p>
              <a:endParaRPr lang="zh-CN" altLang="en-US"/>
            </a:p>
          </p:txBody>
        </p:sp>
        <p:sp>
          <p:nvSpPr>
            <p:cNvPr id="19496" name="Freeform 110"/>
            <p:cNvSpPr>
              <a:spLocks noEditPoints="1" noChangeArrowheads="1"/>
            </p:cNvSpPr>
            <p:nvPr/>
          </p:nvSpPr>
          <p:spPr bwMode="auto">
            <a:xfrm>
              <a:off x="82213" y="181242"/>
              <a:ext cx="30830" cy="30830"/>
            </a:xfrm>
            <a:custGeom>
              <a:avLst/>
              <a:gdLst>
                <a:gd name="T0" fmla="*/ 2147483646 w 14"/>
                <a:gd name="T1" fmla="*/ 0 h 14"/>
                <a:gd name="T2" fmla="*/ 0 w 14"/>
                <a:gd name="T3" fmla="*/ 2147483646 h 14"/>
                <a:gd name="T4" fmla="*/ 2147483646 w 14"/>
                <a:gd name="T5" fmla="*/ 2147483646 h 14"/>
                <a:gd name="T6" fmla="*/ 2147483646 w 14"/>
                <a:gd name="T7" fmla="*/ 2147483646 h 14"/>
                <a:gd name="T8" fmla="*/ 2147483646 w 14"/>
                <a:gd name="T9" fmla="*/ 0 h 14"/>
                <a:gd name="T10" fmla="*/ 2147483646 w 14"/>
                <a:gd name="T11" fmla="*/ 2147483646 h 14"/>
                <a:gd name="T12" fmla="*/ 2147483646 w 14"/>
                <a:gd name="T13" fmla="*/ 2147483646 h 14"/>
                <a:gd name="T14" fmla="*/ 2147483646 w 14"/>
                <a:gd name="T15" fmla="*/ 2147483646 h 14"/>
                <a:gd name="T16" fmla="*/ 2147483646 w 14"/>
                <a:gd name="T17" fmla="*/ 2147483646 h 14"/>
                <a:gd name="T18" fmla="*/ 2147483646 w 14"/>
                <a:gd name="T19" fmla="*/ 2147483646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
                <a:gd name="T31" fmla="*/ 0 h 14"/>
                <a:gd name="T32" fmla="*/ 14 w 14"/>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solidFill>
              <a:srgbClr val="FCFCFC">
                <a:alpha val="89018"/>
              </a:srgbClr>
            </a:solidFill>
            <a:ln>
              <a:noFill/>
            </a:ln>
            <a:extLst>
              <a:ext uri="{91240B29-F687-4F45-9708-019B960494DF}">
                <a14:hiddenLine xmlns:a14="http://schemas.microsoft.com/office/drawing/2010/main" w="9525">
                  <a:solidFill>
                    <a:srgbClr val="000000"/>
                  </a:solidFill>
                  <a:bevel/>
                </a14:hiddenLine>
              </a:ext>
            </a:extLst>
          </p:spPr>
          <p:txBody>
            <a:bodyPr/>
            <a:p>
              <a:endParaRPr lang="zh-CN" altLang="en-US"/>
            </a:p>
          </p:txBody>
        </p:sp>
        <p:sp>
          <p:nvSpPr>
            <p:cNvPr id="19497" name="Freeform 111"/>
            <p:cNvSpPr>
              <a:spLocks noEditPoints="1" noChangeArrowheads="1"/>
            </p:cNvSpPr>
            <p:nvPr/>
          </p:nvSpPr>
          <p:spPr bwMode="auto">
            <a:xfrm>
              <a:off x="172834" y="105568"/>
              <a:ext cx="97161" cy="97161"/>
            </a:xfrm>
            <a:custGeom>
              <a:avLst/>
              <a:gdLst>
                <a:gd name="T0" fmla="*/ 2147483646 w 44"/>
                <a:gd name="T1" fmla="*/ 0 h 44"/>
                <a:gd name="T2" fmla="*/ 0 w 44"/>
                <a:gd name="T3" fmla="*/ 2147483646 h 44"/>
                <a:gd name="T4" fmla="*/ 2147483646 w 44"/>
                <a:gd name="T5" fmla="*/ 2147483646 h 44"/>
                <a:gd name="T6" fmla="*/ 2147483646 w 44"/>
                <a:gd name="T7" fmla="*/ 2147483646 h 44"/>
                <a:gd name="T8" fmla="*/ 2147483646 w 44"/>
                <a:gd name="T9" fmla="*/ 0 h 44"/>
                <a:gd name="T10" fmla="*/ 2147483646 w 44"/>
                <a:gd name="T11" fmla="*/ 2147483646 h 44"/>
                <a:gd name="T12" fmla="*/ 2147483646 w 44"/>
                <a:gd name="T13" fmla="*/ 2147483646 h 44"/>
                <a:gd name="T14" fmla="*/ 2147483646 w 44"/>
                <a:gd name="T15" fmla="*/ 2147483646 h 44"/>
                <a:gd name="T16" fmla="*/ 2147483646 w 44"/>
                <a:gd name="T17" fmla="*/ 2147483646 h 44"/>
                <a:gd name="T18" fmla="*/ 2147483646 w 44"/>
                <a:gd name="T19" fmla="*/ 2147483646 h 4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44"/>
                <a:gd name="T32" fmla="*/ 44 w 44"/>
                <a:gd name="T33" fmla="*/ 44 h 4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solidFill>
              <a:srgbClr val="FCFCFC">
                <a:alpha val="89018"/>
              </a:srgbClr>
            </a:solidFill>
            <a:ln>
              <a:noFill/>
            </a:ln>
            <a:extLst>
              <a:ext uri="{91240B29-F687-4F45-9708-019B960494DF}">
                <a14:hiddenLine xmlns:a14="http://schemas.microsoft.com/office/drawing/2010/main" w="9525">
                  <a:solidFill>
                    <a:srgbClr val="000000"/>
                  </a:solidFill>
                  <a:bevel/>
                </a14:hiddenLine>
              </a:ext>
            </a:extLst>
          </p:spPr>
          <p:txBody>
            <a:bodyPr/>
            <a:p>
              <a:endParaRPr lang="zh-CN" altLang="en-US"/>
            </a:p>
          </p:txBody>
        </p:sp>
        <p:sp>
          <p:nvSpPr>
            <p:cNvPr id="19498" name="Freeform 112"/>
            <p:cNvSpPr>
              <a:spLocks noEditPoints="1" noChangeArrowheads="1"/>
            </p:cNvSpPr>
            <p:nvPr/>
          </p:nvSpPr>
          <p:spPr bwMode="auto">
            <a:xfrm>
              <a:off x="0" y="0"/>
              <a:ext cx="402656" cy="450303"/>
            </a:xfrm>
            <a:custGeom>
              <a:avLst/>
              <a:gdLst>
                <a:gd name="T0" fmla="*/ 2147483646 w 182"/>
                <a:gd name="T1" fmla="*/ 2147483646 h 204"/>
                <a:gd name="T2" fmla="*/ 2147483646 w 182"/>
                <a:gd name="T3" fmla="*/ 2147483646 h 204"/>
                <a:gd name="T4" fmla="*/ 2147483646 w 182"/>
                <a:gd name="T5" fmla="*/ 0 h 204"/>
                <a:gd name="T6" fmla="*/ 2147483646 w 182"/>
                <a:gd name="T7" fmla="*/ 2147483646 h 204"/>
                <a:gd name="T8" fmla="*/ 0 w 182"/>
                <a:gd name="T9" fmla="*/ 2147483646 h 204"/>
                <a:gd name="T10" fmla="*/ 2147483646 w 182"/>
                <a:gd name="T11" fmla="*/ 2147483646 h 204"/>
                <a:gd name="T12" fmla="*/ 2147483646 w 182"/>
                <a:gd name="T13" fmla="*/ 2147483646 h 204"/>
                <a:gd name="T14" fmla="*/ 2147483646 w 182"/>
                <a:gd name="T15" fmla="*/ 2147483646 h 204"/>
                <a:gd name="T16" fmla="*/ 2147483646 w 182"/>
                <a:gd name="T17" fmla="*/ 2147483646 h 204"/>
                <a:gd name="T18" fmla="*/ 2147483646 w 182"/>
                <a:gd name="T19" fmla="*/ 2147483646 h 204"/>
                <a:gd name="T20" fmla="*/ 2147483646 w 182"/>
                <a:gd name="T21" fmla="*/ 2147483646 h 204"/>
                <a:gd name="T22" fmla="*/ 2147483646 w 182"/>
                <a:gd name="T23" fmla="*/ 2147483646 h 204"/>
                <a:gd name="T24" fmla="*/ 2147483646 w 182"/>
                <a:gd name="T25" fmla="*/ 2147483646 h 204"/>
                <a:gd name="T26" fmla="*/ 2147483646 w 182"/>
                <a:gd name="T27" fmla="*/ 2147483646 h 204"/>
                <a:gd name="T28" fmla="*/ 2147483646 w 182"/>
                <a:gd name="T29" fmla="*/ 2147483646 h 204"/>
                <a:gd name="T30" fmla="*/ 2147483646 w 182"/>
                <a:gd name="T31" fmla="*/ 2147483646 h 204"/>
                <a:gd name="T32" fmla="*/ 2147483646 w 182"/>
                <a:gd name="T33" fmla="*/ 2147483646 h 204"/>
                <a:gd name="T34" fmla="*/ 2147483646 w 182"/>
                <a:gd name="T35" fmla="*/ 2147483646 h 204"/>
                <a:gd name="T36" fmla="*/ 2147483646 w 182"/>
                <a:gd name="T37" fmla="*/ 2147483646 h 204"/>
                <a:gd name="T38" fmla="*/ 2147483646 w 182"/>
                <a:gd name="T39" fmla="*/ 2147483646 h 204"/>
                <a:gd name="T40" fmla="*/ 2147483646 w 182"/>
                <a:gd name="T41" fmla="*/ 2147483646 h 204"/>
                <a:gd name="T42" fmla="*/ 2147483646 w 182"/>
                <a:gd name="T43" fmla="*/ 2147483646 h 204"/>
                <a:gd name="T44" fmla="*/ 2147483646 w 182"/>
                <a:gd name="T45" fmla="*/ 2147483646 h 204"/>
                <a:gd name="T46" fmla="*/ 2147483646 w 182"/>
                <a:gd name="T47" fmla="*/ 2147483646 h 204"/>
                <a:gd name="T48" fmla="*/ 2147483646 w 182"/>
                <a:gd name="T49" fmla="*/ 2147483646 h 204"/>
                <a:gd name="T50" fmla="*/ 2147483646 w 182"/>
                <a:gd name="T51" fmla="*/ 2147483646 h 204"/>
                <a:gd name="T52" fmla="*/ 2147483646 w 182"/>
                <a:gd name="T53" fmla="*/ 2147483646 h 204"/>
                <a:gd name="T54" fmla="*/ 2147483646 w 182"/>
                <a:gd name="T55" fmla="*/ 2147483646 h 204"/>
                <a:gd name="T56" fmla="*/ 2147483646 w 182"/>
                <a:gd name="T57" fmla="*/ 2147483646 h 204"/>
                <a:gd name="T58" fmla="*/ 2147483646 w 182"/>
                <a:gd name="T59" fmla="*/ 2147483646 h 204"/>
                <a:gd name="T60" fmla="*/ 2147483646 w 182"/>
                <a:gd name="T61" fmla="*/ 2147483646 h 204"/>
                <a:gd name="T62" fmla="*/ 2147483646 w 182"/>
                <a:gd name="T63" fmla="*/ 2147483646 h 204"/>
                <a:gd name="T64" fmla="*/ 2147483646 w 182"/>
                <a:gd name="T65" fmla="*/ 2147483646 h 204"/>
                <a:gd name="T66" fmla="*/ 2147483646 w 182"/>
                <a:gd name="T67" fmla="*/ 2147483646 h 204"/>
                <a:gd name="T68" fmla="*/ 2147483646 w 182"/>
                <a:gd name="T69" fmla="*/ 2147483646 h 204"/>
                <a:gd name="T70" fmla="*/ 2147483646 w 182"/>
                <a:gd name="T71" fmla="*/ 2147483646 h 204"/>
                <a:gd name="T72" fmla="*/ 2147483646 w 182"/>
                <a:gd name="T73" fmla="*/ 2147483646 h 204"/>
                <a:gd name="T74" fmla="*/ 2147483646 w 182"/>
                <a:gd name="T75" fmla="*/ 2147483646 h 204"/>
                <a:gd name="T76" fmla="*/ 2147483646 w 182"/>
                <a:gd name="T77" fmla="*/ 2147483646 h 204"/>
                <a:gd name="T78" fmla="*/ 2147483646 w 182"/>
                <a:gd name="T79" fmla="*/ 2147483646 h 204"/>
                <a:gd name="T80" fmla="*/ 2147483646 w 182"/>
                <a:gd name="T81" fmla="*/ 2147483646 h 204"/>
                <a:gd name="T82" fmla="*/ 2147483646 w 182"/>
                <a:gd name="T83" fmla="*/ 2147483646 h 204"/>
                <a:gd name="T84" fmla="*/ 2147483646 w 182"/>
                <a:gd name="T85" fmla="*/ 2147483646 h 204"/>
                <a:gd name="T86" fmla="*/ 2147483646 w 182"/>
                <a:gd name="T87" fmla="*/ 2147483646 h 204"/>
                <a:gd name="T88" fmla="*/ 2147483646 w 182"/>
                <a:gd name="T89" fmla="*/ 2147483646 h 204"/>
                <a:gd name="T90" fmla="*/ 2147483646 w 182"/>
                <a:gd name="T91" fmla="*/ 2147483646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2"/>
                <a:gd name="T139" fmla="*/ 0 h 204"/>
                <a:gd name="T140" fmla="*/ 182 w 182"/>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solidFill>
              <a:srgbClr val="FCFCFC">
                <a:alpha val="89018"/>
              </a:srgbClr>
            </a:solidFill>
            <a:ln>
              <a:noFill/>
            </a:ln>
            <a:extLst>
              <a:ext uri="{91240B29-F687-4F45-9708-019B960494DF}">
                <a14:hiddenLine xmlns:a14="http://schemas.microsoft.com/office/drawing/2010/main" w="9525">
                  <a:solidFill>
                    <a:srgbClr val="000000"/>
                  </a:solidFill>
                  <a:bevel/>
                </a14:hiddenLine>
              </a:ext>
            </a:extLst>
          </p:spPr>
          <p:txBody>
            <a:bodyPr/>
            <a:p>
              <a:endParaRPr lang="zh-CN" altLang="en-US"/>
            </a:p>
          </p:txBody>
        </p:sp>
      </p:grpSp>
      <p:sp>
        <p:nvSpPr>
          <p:cNvPr id="2" name="文本框 1"/>
          <p:cNvSpPr txBox="1"/>
          <p:nvPr/>
        </p:nvSpPr>
        <p:spPr>
          <a:xfrm>
            <a:off x="1062355" y="1411605"/>
            <a:ext cx="3880485" cy="1797685"/>
          </a:xfrm>
          <a:prstGeom prst="rect">
            <a:avLst/>
          </a:prstGeom>
          <a:noFill/>
        </p:spPr>
        <p:txBody>
          <a:bodyPr wrap="square" rtlCol="0">
            <a:noAutofit/>
          </a:bodyPr>
          <a:p>
            <a:r>
              <a:rPr lang="zh-CN" altLang="en-US" sz="1600">
                <a:solidFill>
                  <a:schemeClr val="bg1"/>
                </a:solidFill>
                <a:latin typeface="Noto Sans SC Black" panose="020B0200000000000000" charset="-122"/>
                <a:ea typeface="Noto Sans SC Black" panose="020B0200000000000000" charset="-122"/>
              </a:rPr>
              <a:t>Your brain sends electrical signals through nerves to your muscles. This system is called the voluntary nervous system. You decide to move, and the command travels fast. Muscles are designed to respond only when you choose to act.</a:t>
            </a:r>
            <a:endParaRPr lang="zh-CN" altLang="en-US" sz="1600">
              <a:solidFill>
                <a:schemeClr val="bg1"/>
              </a:solidFill>
              <a:latin typeface="Noto Sans SC Black" panose="020B0200000000000000" charset="-122"/>
              <a:ea typeface="Noto Sans SC Black" panose="020B0200000000000000" charset="-122"/>
            </a:endParaRPr>
          </a:p>
        </p:txBody>
      </p:sp>
      <p:sp>
        <p:nvSpPr>
          <p:cNvPr id="3" name="文本框 2"/>
          <p:cNvSpPr txBox="1"/>
          <p:nvPr/>
        </p:nvSpPr>
        <p:spPr>
          <a:xfrm>
            <a:off x="7881620" y="1427480"/>
            <a:ext cx="3880485" cy="1797685"/>
          </a:xfrm>
          <a:prstGeom prst="rect">
            <a:avLst/>
          </a:prstGeom>
          <a:noFill/>
        </p:spPr>
        <p:txBody>
          <a:bodyPr wrap="square" rtlCol="0">
            <a:noAutofit/>
          </a:bodyPr>
          <a:p>
            <a:r>
              <a:rPr lang="zh-CN" altLang="en-US" sz="1600">
                <a:solidFill>
                  <a:schemeClr val="bg1"/>
                </a:solidFill>
                <a:latin typeface="Noto Sans SC Black" panose="020B0200000000000000" charset="-122"/>
                <a:ea typeface="Noto Sans SC Black" panose="020B0200000000000000" charset="-122"/>
              </a:rPr>
              <a:t>Cell growth is managed by involuntary processes inside your body, like hormones and genes. Your conscious mind does not talk to individual cells. Cells follow chemical instructions written in your DNA, not your thoughts.</a:t>
            </a:r>
            <a:endParaRPr lang="zh-CN" altLang="en-US" sz="1600">
              <a:solidFill>
                <a:schemeClr val="bg1"/>
              </a:solidFill>
              <a:latin typeface="Noto Sans SC Black" panose="020B0200000000000000" charset="-122"/>
              <a:ea typeface="Noto Sans SC Black" panose="020B0200000000000000" charset="-122"/>
            </a:endParaRPr>
          </a:p>
        </p:txBody>
      </p:sp>
      <p:sp>
        <p:nvSpPr>
          <p:cNvPr id="4" name="文本框 3"/>
          <p:cNvSpPr txBox="1"/>
          <p:nvPr/>
        </p:nvSpPr>
        <p:spPr>
          <a:xfrm>
            <a:off x="830580" y="4934585"/>
            <a:ext cx="3880485" cy="1636395"/>
          </a:xfrm>
          <a:prstGeom prst="rect">
            <a:avLst/>
          </a:prstGeom>
          <a:noFill/>
        </p:spPr>
        <p:txBody>
          <a:bodyPr wrap="square" rtlCol="0">
            <a:noAutofit/>
          </a:bodyPr>
          <a:p>
            <a:r>
              <a:rPr lang="zh-CN" altLang="en-US" sz="1600">
                <a:solidFill>
                  <a:schemeClr val="bg1"/>
                </a:solidFill>
                <a:latin typeface="Noto Sans SC Black" panose="020B0200000000000000" charset="-122"/>
                <a:ea typeface="Noto Sans SC Black" panose="020B0200000000000000" charset="-122"/>
              </a:rPr>
              <a:t>Aging happens because cells gradually lose the ability to repair themselves. Tiny parts inside cells (telomeres) get shorter each time a cell divides. This is a built-in biological clock. No thought can turn off this clock, so we eventually age and die.</a:t>
            </a:r>
            <a:endParaRPr lang="zh-CN" altLang="en-US" sz="1600">
              <a:solidFill>
                <a:schemeClr val="bg1"/>
              </a:solidFill>
              <a:latin typeface="Noto Sans SC Black" panose="020B0200000000000000" charset="-122"/>
              <a:ea typeface="Noto Sans SC Black" panose="020B0200000000000000" charset="-122"/>
            </a:endParaRPr>
          </a:p>
        </p:txBody>
      </p:sp>
      <p:sp>
        <p:nvSpPr>
          <p:cNvPr id="5" name="文本框 4"/>
          <p:cNvSpPr txBox="1"/>
          <p:nvPr/>
        </p:nvSpPr>
        <p:spPr>
          <a:xfrm>
            <a:off x="7881620" y="4902835"/>
            <a:ext cx="4011295" cy="1819275"/>
          </a:xfrm>
          <a:prstGeom prst="rect">
            <a:avLst/>
          </a:prstGeom>
          <a:noFill/>
        </p:spPr>
        <p:txBody>
          <a:bodyPr wrap="square" rtlCol="0">
            <a:noAutofit/>
          </a:bodyPr>
          <a:p>
            <a:r>
              <a:rPr lang="zh-CN" altLang="en-US" sz="1600">
                <a:solidFill>
                  <a:schemeClr val="bg1"/>
                </a:solidFill>
                <a:latin typeface="Noto Sans SC Black" panose="020B0200000000000000" charset="-122"/>
                <a:ea typeface="Noto Sans SC Black" panose="020B0200000000000000" charset="-122"/>
              </a:rPr>
              <a:t>Pain is a warning signal. When you touch something dangerous, special sensors send a fast message to your brain. Your brain makes you feel pain on purpose, to protect you from injury. Automatically rejecting all pain would be harmful—you might burn your hand without knowing it.</a:t>
            </a:r>
            <a:endParaRPr lang="zh-CN" altLang="en-US" sz="1600">
              <a:solidFill>
                <a:schemeClr val="bg1"/>
              </a:solidFill>
              <a:latin typeface="Noto Sans SC Black" panose="020B0200000000000000" charset="-122"/>
              <a:ea typeface="Noto Sans SC Black" panose="020B0200000000000000"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15362" name="等腰三角形 4"/>
          <p:cNvSpPr>
            <a:spLocks noChangeArrowheads="1"/>
          </p:cNvSpPr>
          <p:nvPr/>
        </p:nvSpPr>
        <p:spPr bwMode="auto">
          <a:xfrm flipV="1">
            <a:off x="3254375" y="1438275"/>
            <a:ext cx="5694363" cy="4906963"/>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5363" name="等腰三角形 2"/>
          <p:cNvSpPr>
            <a:spLocks noChangeArrowheads="1"/>
          </p:cNvSpPr>
          <p:nvPr/>
        </p:nvSpPr>
        <p:spPr bwMode="auto">
          <a:xfrm flipV="1">
            <a:off x="3254375" y="812800"/>
            <a:ext cx="5694363" cy="490855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5364" name="任意多边形 25"/>
          <p:cNvSpPr>
            <a:spLocks noChangeArrowheads="1"/>
          </p:cNvSpPr>
          <p:nvPr/>
        </p:nvSpPr>
        <p:spPr bwMode="auto">
          <a:xfrm rot="1800000">
            <a:off x="1408113" y="-146050"/>
            <a:ext cx="203200" cy="1446213"/>
          </a:xfrm>
          <a:custGeom>
            <a:avLst/>
            <a:gdLst>
              <a:gd name="T0" fmla="*/ 0 w 202739"/>
              <a:gd name="T1" fmla="*/ 116976 h 1446522"/>
              <a:gd name="T2" fmla="*/ 204125 w 202739"/>
              <a:gd name="T3" fmla="*/ 0 h 1446522"/>
              <a:gd name="T4" fmla="*/ 204125 w 202739"/>
              <a:gd name="T5" fmla="*/ 1445595 h 1446522"/>
              <a:gd name="T6" fmla="*/ 0 w 202739"/>
              <a:gd name="T7" fmla="*/ 1445595 h 1446522"/>
              <a:gd name="T8" fmla="*/ 0 60000 65536"/>
              <a:gd name="T9" fmla="*/ 0 60000 65536"/>
              <a:gd name="T10" fmla="*/ 0 60000 65536"/>
              <a:gd name="T11" fmla="*/ 0 60000 65536"/>
              <a:gd name="T12" fmla="*/ 0 w 202739"/>
              <a:gd name="T13" fmla="*/ 0 h 1446522"/>
              <a:gd name="T14" fmla="*/ 202739 w 202739"/>
              <a:gd name="T15" fmla="*/ 1446522 h 1446522"/>
            </a:gdLst>
            <a:ahLst/>
            <a:cxnLst>
              <a:cxn ang="T8">
                <a:pos x="T0" y="T1"/>
              </a:cxn>
              <a:cxn ang="T9">
                <a:pos x="T2" y="T3"/>
              </a:cxn>
              <a:cxn ang="T10">
                <a:pos x="T4" y="T5"/>
              </a:cxn>
              <a:cxn ang="T11">
                <a:pos x="T6" y="T7"/>
              </a:cxn>
            </a:cxnLst>
            <a:rect l="T12" t="T13" r="T14" b="T15"/>
            <a:pathLst>
              <a:path w="202739" h="1446522">
                <a:moveTo>
                  <a:pt x="0" y="117051"/>
                </a:moveTo>
                <a:lnTo>
                  <a:pt x="202739" y="0"/>
                </a:lnTo>
                <a:lnTo>
                  <a:pt x="202739" y="1446522"/>
                </a:lnTo>
                <a:lnTo>
                  <a:pt x="0" y="1446522"/>
                </a:lnTo>
                <a:lnTo>
                  <a:pt x="0" y="117051"/>
                </a:lnTo>
                <a:close/>
              </a:path>
            </a:pathLst>
          </a:cu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5365" name="任意多边形 27"/>
          <p:cNvSpPr>
            <a:spLocks noChangeArrowheads="1"/>
          </p:cNvSpPr>
          <p:nvPr/>
        </p:nvSpPr>
        <p:spPr bwMode="auto">
          <a:xfrm rot="1800000">
            <a:off x="1304925" y="-219075"/>
            <a:ext cx="46038" cy="3121025"/>
          </a:xfrm>
          <a:custGeom>
            <a:avLst/>
            <a:gdLst>
              <a:gd name="T0" fmla="*/ 0 w 45719"/>
              <a:gd name="T1" fmla="*/ 26387 h 3121422"/>
              <a:gd name="T2" fmla="*/ 46682 w 45719"/>
              <a:gd name="T3" fmla="*/ 0 h 3121422"/>
              <a:gd name="T4" fmla="*/ 46682 w 45719"/>
              <a:gd name="T5" fmla="*/ 3120231 h 3121422"/>
              <a:gd name="T6" fmla="*/ 0 w 45719"/>
              <a:gd name="T7" fmla="*/ 3120231 h 3121422"/>
              <a:gd name="T8" fmla="*/ 0 60000 65536"/>
              <a:gd name="T9" fmla="*/ 0 60000 65536"/>
              <a:gd name="T10" fmla="*/ 0 60000 65536"/>
              <a:gd name="T11" fmla="*/ 0 60000 65536"/>
              <a:gd name="T12" fmla="*/ 0 w 45719"/>
              <a:gd name="T13" fmla="*/ 0 h 3121422"/>
              <a:gd name="T14" fmla="*/ 45719 w 45719"/>
              <a:gd name="T15" fmla="*/ 3121422 h 3121422"/>
            </a:gdLst>
            <a:ahLst/>
            <a:cxnLst>
              <a:cxn ang="T8">
                <a:pos x="T0" y="T1"/>
              </a:cxn>
              <a:cxn ang="T9">
                <a:pos x="T2" y="T3"/>
              </a:cxn>
              <a:cxn ang="T10">
                <a:pos x="T4" y="T5"/>
              </a:cxn>
              <a:cxn ang="T11">
                <a:pos x="T6" y="T7"/>
              </a:cxn>
            </a:cxnLst>
            <a:rect l="T12" t="T13" r="T14" b="T15"/>
            <a:pathLst>
              <a:path w="45719" h="3121422">
                <a:moveTo>
                  <a:pt x="0" y="26396"/>
                </a:moveTo>
                <a:lnTo>
                  <a:pt x="45719" y="0"/>
                </a:lnTo>
                <a:lnTo>
                  <a:pt x="45719" y="3121422"/>
                </a:lnTo>
                <a:lnTo>
                  <a:pt x="0" y="3121422"/>
                </a:lnTo>
                <a:lnTo>
                  <a:pt x="0" y="26396"/>
                </a:lnTo>
                <a:close/>
              </a:path>
            </a:pathLst>
          </a:custGeom>
          <a:solidFill>
            <a:srgbClr val="FFFFFF">
              <a:alpha val="5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5366" name="任意多边形 31"/>
          <p:cNvSpPr>
            <a:spLocks noChangeArrowheads="1"/>
          </p:cNvSpPr>
          <p:nvPr/>
        </p:nvSpPr>
        <p:spPr bwMode="auto">
          <a:xfrm rot="1800000">
            <a:off x="2024063" y="4803775"/>
            <a:ext cx="46037" cy="2219325"/>
          </a:xfrm>
          <a:custGeom>
            <a:avLst/>
            <a:gdLst>
              <a:gd name="T0" fmla="*/ 0 w 45719"/>
              <a:gd name="T1" fmla="*/ 0 h 2219821"/>
              <a:gd name="T2" fmla="*/ 46679 w 45719"/>
              <a:gd name="T3" fmla="*/ 0 h 2219821"/>
              <a:gd name="T4" fmla="*/ 46679 w 45719"/>
              <a:gd name="T5" fmla="*/ 2191955 h 2219821"/>
              <a:gd name="T6" fmla="*/ 0 w 45719"/>
              <a:gd name="T7" fmla="*/ 2218333 h 2219821"/>
              <a:gd name="T8" fmla="*/ 0 60000 65536"/>
              <a:gd name="T9" fmla="*/ 0 60000 65536"/>
              <a:gd name="T10" fmla="*/ 0 60000 65536"/>
              <a:gd name="T11" fmla="*/ 0 60000 65536"/>
              <a:gd name="T12" fmla="*/ 0 w 45719"/>
              <a:gd name="T13" fmla="*/ 0 h 2219821"/>
              <a:gd name="T14" fmla="*/ 45719 w 45719"/>
              <a:gd name="T15" fmla="*/ 2219821 h 2219821"/>
            </a:gdLst>
            <a:ahLst/>
            <a:cxnLst>
              <a:cxn ang="T8">
                <a:pos x="T0" y="T1"/>
              </a:cxn>
              <a:cxn ang="T9">
                <a:pos x="T2" y="T3"/>
              </a:cxn>
              <a:cxn ang="T10">
                <a:pos x="T4" y="T5"/>
              </a:cxn>
              <a:cxn ang="T11">
                <a:pos x="T6" y="T7"/>
              </a:cxn>
            </a:cxnLst>
            <a:rect l="T12" t="T13" r="T14" b="T15"/>
            <a:pathLst>
              <a:path w="45719" h="2219821">
                <a:moveTo>
                  <a:pt x="0" y="0"/>
                </a:moveTo>
                <a:lnTo>
                  <a:pt x="45719" y="0"/>
                </a:lnTo>
                <a:lnTo>
                  <a:pt x="45719" y="2193425"/>
                </a:lnTo>
                <a:lnTo>
                  <a:pt x="0" y="2219821"/>
                </a:lnTo>
                <a:lnTo>
                  <a:pt x="0" y="0"/>
                </a:lnTo>
                <a:close/>
              </a:path>
            </a:pathLst>
          </a:custGeom>
          <a:solidFill>
            <a:srgbClr val="FFFFFF">
              <a:alpha val="5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5367" name="任意多边形 34"/>
          <p:cNvSpPr>
            <a:spLocks noChangeArrowheads="1"/>
          </p:cNvSpPr>
          <p:nvPr/>
        </p:nvSpPr>
        <p:spPr bwMode="auto">
          <a:xfrm rot="1800000">
            <a:off x="1930400" y="6380163"/>
            <a:ext cx="238125" cy="582612"/>
          </a:xfrm>
          <a:custGeom>
            <a:avLst/>
            <a:gdLst>
              <a:gd name="T0" fmla="*/ 0 w 239049"/>
              <a:gd name="T1" fmla="*/ 0 h 581981"/>
              <a:gd name="T2" fmla="*/ 236288 w 239049"/>
              <a:gd name="T3" fmla="*/ 0 h 581981"/>
              <a:gd name="T4" fmla="*/ 236288 w 239049"/>
              <a:gd name="T5" fmla="*/ 445410 h 581981"/>
              <a:gd name="T6" fmla="*/ 0 w 239049"/>
              <a:gd name="T7" fmla="*/ 583876 h 581981"/>
              <a:gd name="T8" fmla="*/ 0 60000 65536"/>
              <a:gd name="T9" fmla="*/ 0 60000 65536"/>
              <a:gd name="T10" fmla="*/ 0 60000 65536"/>
              <a:gd name="T11" fmla="*/ 0 60000 65536"/>
              <a:gd name="T12" fmla="*/ 0 w 239049"/>
              <a:gd name="T13" fmla="*/ 0 h 581981"/>
              <a:gd name="T14" fmla="*/ 239049 w 239049"/>
              <a:gd name="T15" fmla="*/ 581981 h 581981"/>
            </a:gdLst>
            <a:ahLst/>
            <a:cxnLst>
              <a:cxn ang="T8">
                <a:pos x="T0" y="T1"/>
              </a:cxn>
              <a:cxn ang="T9">
                <a:pos x="T2" y="T3"/>
              </a:cxn>
              <a:cxn ang="T10">
                <a:pos x="T4" y="T5"/>
              </a:cxn>
              <a:cxn ang="T11">
                <a:pos x="T6" y="T7"/>
              </a:cxn>
            </a:cxnLst>
            <a:rect l="T12" t="T13" r="T14" b="T15"/>
            <a:pathLst>
              <a:path w="239049" h="581981">
                <a:moveTo>
                  <a:pt x="0" y="0"/>
                </a:moveTo>
                <a:lnTo>
                  <a:pt x="239049" y="0"/>
                </a:lnTo>
                <a:lnTo>
                  <a:pt x="239049" y="443965"/>
                </a:lnTo>
                <a:lnTo>
                  <a:pt x="0" y="581981"/>
                </a:lnTo>
                <a:lnTo>
                  <a:pt x="0" y="0"/>
                </a:lnTo>
                <a:close/>
              </a:path>
            </a:pathLst>
          </a:cu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5368" name="矩形 14"/>
          <p:cNvSpPr>
            <a:spLocks noChangeArrowheads="1"/>
          </p:cNvSpPr>
          <p:nvPr/>
        </p:nvSpPr>
        <p:spPr bwMode="auto">
          <a:xfrm rot="1800000">
            <a:off x="11090275" y="2316163"/>
            <a:ext cx="44450" cy="3463925"/>
          </a:xfrm>
          <a:prstGeom prst="rect">
            <a:avLst/>
          </a:prstGeom>
          <a:solidFill>
            <a:srgbClr val="FFFFFF">
              <a:alpha val="5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5369" name="任意多边形 36"/>
          <p:cNvSpPr>
            <a:spLocks noChangeArrowheads="1"/>
          </p:cNvSpPr>
          <p:nvPr/>
        </p:nvSpPr>
        <p:spPr bwMode="auto">
          <a:xfrm rot="1800000">
            <a:off x="11558588" y="2481263"/>
            <a:ext cx="239712" cy="2520950"/>
          </a:xfrm>
          <a:custGeom>
            <a:avLst/>
            <a:gdLst>
              <a:gd name="T0" fmla="*/ 0 w 239049"/>
              <a:gd name="T1" fmla="*/ 0 h 2521176"/>
              <a:gd name="T2" fmla="*/ 241044 w 239049"/>
              <a:gd name="T3" fmla="*/ 413935 h 2521176"/>
              <a:gd name="T4" fmla="*/ 241044 w 239049"/>
              <a:gd name="T5" fmla="*/ 2520498 h 2521176"/>
              <a:gd name="T6" fmla="*/ 0 w 239049"/>
              <a:gd name="T7" fmla="*/ 2520498 h 2521176"/>
              <a:gd name="T8" fmla="*/ 0 60000 65536"/>
              <a:gd name="T9" fmla="*/ 0 60000 65536"/>
              <a:gd name="T10" fmla="*/ 0 60000 65536"/>
              <a:gd name="T11" fmla="*/ 0 60000 65536"/>
              <a:gd name="T12" fmla="*/ 0 w 239049"/>
              <a:gd name="T13" fmla="*/ 0 h 2521176"/>
              <a:gd name="T14" fmla="*/ 239049 w 239049"/>
              <a:gd name="T15" fmla="*/ 2521176 h 2521176"/>
            </a:gdLst>
            <a:ahLst/>
            <a:cxnLst>
              <a:cxn ang="T8">
                <a:pos x="T0" y="T1"/>
              </a:cxn>
              <a:cxn ang="T9">
                <a:pos x="T2" y="T3"/>
              </a:cxn>
              <a:cxn ang="T10">
                <a:pos x="T4" y="T5"/>
              </a:cxn>
              <a:cxn ang="T11">
                <a:pos x="T6" y="T7"/>
              </a:cxn>
            </a:cxnLst>
            <a:rect l="T12" t="T13" r="T14" b="T15"/>
            <a:pathLst>
              <a:path w="239049" h="2521176">
                <a:moveTo>
                  <a:pt x="0" y="0"/>
                </a:moveTo>
                <a:lnTo>
                  <a:pt x="239049" y="414046"/>
                </a:lnTo>
                <a:lnTo>
                  <a:pt x="239049" y="2521176"/>
                </a:lnTo>
                <a:lnTo>
                  <a:pt x="0" y="2521176"/>
                </a:lnTo>
                <a:lnTo>
                  <a:pt x="0" y="0"/>
                </a:lnTo>
                <a:close/>
              </a:path>
            </a:pathLst>
          </a:cu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p>
            <a:endParaRPr lang="zh-CN" altLang="en-US"/>
          </a:p>
        </p:txBody>
      </p:sp>
      <p:sp>
        <p:nvSpPr>
          <p:cNvPr id="15370" name="文本框 22"/>
          <p:cNvSpPr>
            <a:spLocks noChangeArrowheads="1"/>
          </p:cNvSpPr>
          <p:nvPr/>
        </p:nvSpPr>
        <p:spPr bwMode="auto">
          <a:xfrm>
            <a:off x="3883025" y="1602105"/>
            <a:ext cx="449008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3200" b="1">
                <a:solidFill>
                  <a:srgbClr val="093255"/>
                </a:solidFill>
                <a:latin typeface="方正姚体简体" panose="03000509000000000000" pitchFamily="65" charset="-122"/>
                <a:ea typeface="方正姚体简体" panose="03000509000000000000" pitchFamily="65" charset="-122"/>
                <a:sym typeface="方正姚体" panose="02010601030101010101" pitchFamily="2" charset="-122"/>
              </a:rPr>
              <a:t>From GitHub to WeChat</a:t>
            </a:r>
            <a:endParaRPr lang="en-US" altLang="zh-CN" sz="3200" b="1">
              <a:solidFill>
                <a:srgbClr val="093255"/>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5371" name="文本框 23"/>
          <p:cNvSpPr>
            <a:spLocks noChangeArrowheads="1"/>
          </p:cNvSpPr>
          <p:nvPr/>
        </p:nvSpPr>
        <p:spPr bwMode="auto">
          <a:xfrm>
            <a:off x="1600518" y="2533650"/>
            <a:ext cx="9053830"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7200" b="1" dirty="0" smtClean="0">
                <a:solidFill>
                  <a:schemeClr val="bg1"/>
                </a:solidFill>
                <a:latin typeface="Impact" panose="020B0806030902050204" pitchFamily="34" charset="0"/>
                <a:sym typeface="Impact" panose="020B0806030902050204" pitchFamily="34" charset="0"/>
              </a:rPr>
              <a:t>Be a Website Developer</a:t>
            </a:r>
            <a:endParaRPr lang="en-US" altLang="zh-CN" sz="7200" b="1" dirty="0" smtClean="0">
              <a:solidFill>
                <a:schemeClr val="bg1"/>
              </a:solidFill>
              <a:latin typeface="Impact" panose="020B0806030902050204" pitchFamily="34" charset="0"/>
              <a:sym typeface="Impact" panose="020B0806030902050204" pitchFamily="34" charset="0"/>
            </a:endParaRPr>
          </a:p>
        </p:txBody>
      </p:sp>
      <p:sp>
        <p:nvSpPr>
          <p:cNvPr id="15372" name="直接连接符 11"/>
          <p:cNvSpPr>
            <a:spLocks noChangeShapeType="1"/>
          </p:cNvSpPr>
          <p:nvPr/>
        </p:nvSpPr>
        <p:spPr bwMode="auto">
          <a:xfrm>
            <a:off x="4689475" y="2333625"/>
            <a:ext cx="2824163" cy="0"/>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15373" name="直接连接符 37"/>
          <p:cNvSpPr>
            <a:spLocks noChangeShapeType="1"/>
          </p:cNvSpPr>
          <p:nvPr/>
        </p:nvSpPr>
        <p:spPr bwMode="auto">
          <a:xfrm>
            <a:off x="5341938" y="3932238"/>
            <a:ext cx="1476375" cy="1587"/>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5" name="文本框 4"/>
          <p:cNvSpPr txBox="1"/>
          <p:nvPr/>
        </p:nvSpPr>
        <p:spPr>
          <a:xfrm>
            <a:off x="3825875" y="5887720"/>
            <a:ext cx="4064000" cy="368300"/>
          </a:xfrm>
          <a:prstGeom prst="rect">
            <a:avLst/>
          </a:prstGeom>
          <a:noFill/>
        </p:spPr>
        <p:txBody>
          <a:bodyPr wrap="square" rtlCol="0">
            <a:spAutoFit/>
          </a:bodyPr>
          <a:p>
            <a:endParaRPr lang="zh-CN" altLang="en-US"/>
          </a:p>
        </p:txBody>
      </p:sp>
      <p:sp>
        <p:nvSpPr>
          <p:cNvPr id="3" name="文本框 2"/>
          <p:cNvSpPr txBox="1"/>
          <p:nvPr/>
        </p:nvSpPr>
        <p:spPr>
          <a:xfrm>
            <a:off x="5175250" y="4080510"/>
            <a:ext cx="1809115" cy="351790"/>
          </a:xfrm>
          <a:prstGeom prst="rect">
            <a:avLst/>
          </a:prstGeom>
          <a:noFill/>
        </p:spPr>
        <p:txBody>
          <a:bodyPr wrap="square" rtlCol="0">
            <a:noAutofit/>
          </a:bodyPr>
          <a:p>
            <a:r>
              <a:rPr lang="en-US" altLang="zh-CN" sz="1800" b="1">
                <a:solidFill>
                  <a:srgbClr val="093255"/>
                </a:solidFill>
                <a:latin typeface="方正姚体简体" panose="03000509000000000000" pitchFamily="65" charset="-122"/>
                <a:ea typeface="方正姚体简体" panose="03000509000000000000" pitchFamily="65" charset="-122"/>
              </a:rPr>
              <a:t>Product Launch</a:t>
            </a:r>
            <a:endParaRPr lang="en-US" altLang="zh-CN" sz="1800" b="1">
              <a:solidFill>
                <a:srgbClr val="093255"/>
              </a:solidFill>
              <a:latin typeface="方正姚体简体" panose="03000509000000000000" pitchFamily="65" charset="-122"/>
              <a:ea typeface="方正姚体简体" panose="03000509000000000000" pitchFamily="65"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619750" y="251460"/>
            <a:ext cx="10807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sym typeface="方正姚体" panose="02010601030101010101" pitchFamily="2" charset="-122"/>
              </a:rPr>
              <a:t>Preface</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541780" y="1012825"/>
            <a:ext cx="9236075" cy="46037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We are going to introduce some key points of website building below</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2155825" y="1632585"/>
            <a:ext cx="8008620" cy="46037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If you are very interested in building websites, don't miss it.</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6" name="文本框 5"/>
          <p:cNvSpPr txBox="1"/>
          <p:nvPr/>
        </p:nvSpPr>
        <p:spPr>
          <a:xfrm>
            <a:off x="1939925" y="2252345"/>
            <a:ext cx="8441055"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What should you do if you don't know how to write the code for a website? In fact, we can use OpenClaw to complete the website building process without you needing to do anything. </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2386330" y="3610610"/>
            <a:ext cx="7548245" cy="156845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sym typeface="+mn-ea"/>
              </a:rPr>
              <a:t>However, AI web automation tools are not perfect; they have many problems and are not as fast as humans. However, if we only look at coding, AI is better, so I sincerely recommend everyone to use CodeBuddy.</a:t>
            </a:r>
            <a:endParaRPr lang="en-US" altLang="zh-CN" sz="2400" b="1">
              <a:solidFill>
                <a:schemeClr val="bg1"/>
              </a:solidFill>
              <a:latin typeface="方正小标宋简体" panose="03000509000000000000" charset="-122"/>
              <a:ea typeface="方正小标宋简体" panose="03000509000000000000" charset="-122"/>
            </a:endParaRPr>
          </a:p>
        </p:txBody>
      </p:sp>
      <p:pic>
        <p:nvPicPr>
          <p:cNvPr id="12" name="图片 11"/>
          <p:cNvPicPr/>
          <p:nvPr/>
        </p:nvPicPr>
        <p:blipFill>
          <a:blip r:embed="rId2"/>
        </p:blipFill>
        <p:spPr>
          <a:xfrm>
            <a:off x="4298950" y="746760"/>
            <a:ext cx="3914775" cy="1504950"/>
          </a:xfrm>
          <a:prstGeom prst="rect">
            <a:avLst/>
          </a:prstGeom>
        </p:spPr>
      </p:pic>
      <p:pic>
        <p:nvPicPr>
          <p:cNvPr id="13" name="图片 12"/>
          <p:cNvPicPr/>
          <p:nvPr/>
        </p:nvPicPr>
        <p:blipFill>
          <a:blip r:embed="rId3"/>
        </p:blipFill>
        <p:spPr>
          <a:xfrm>
            <a:off x="4298315" y="2571115"/>
            <a:ext cx="3915410" cy="1517650"/>
          </a:xfrm>
          <a:prstGeom prst="rect">
            <a:avLst/>
          </a:prstGeom>
        </p:spPr>
      </p:pic>
      <p:pic>
        <p:nvPicPr>
          <p:cNvPr id="14" name="图片 13"/>
          <p:cNvPicPr/>
          <p:nvPr/>
        </p:nvPicPr>
        <p:blipFill>
          <a:blip r:embed="rId4"/>
        </p:blipFill>
        <p:spPr>
          <a:xfrm>
            <a:off x="4298950" y="4408170"/>
            <a:ext cx="3914775" cy="1492885"/>
          </a:xfrm>
          <a:prstGeom prst="rect">
            <a:avLst/>
          </a:prstGeom>
        </p:spPr>
      </p:pic>
      <p:pic>
        <p:nvPicPr>
          <p:cNvPr id="15" name="图片 14"/>
          <p:cNvPicPr>
            <a:picLocks noChangeAspect="1"/>
          </p:cNvPicPr>
          <p:nvPr/>
        </p:nvPicPr>
        <p:blipFill>
          <a:blip r:embed="rId5"/>
          <a:stretch>
            <a:fillRect/>
          </a:stretch>
        </p:blipFill>
        <p:spPr>
          <a:xfrm>
            <a:off x="490855" y="2715895"/>
            <a:ext cx="1258570" cy="1228090"/>
          </a:xfrm>
          <a:prstGeom prst="rect">
            <a:avLst/>
          </a:prstGeom>
        </p:spPr>
      </p:pic>
      <p:pic>
        <p:nvPicPr>
          <p:cNvPr id="17" name="CodeBuddy">
            <a:hlinkClick r:id="" action="ppaction://media"/>
          </p:cNvPr>
          <p:cNvPicPr/>
          <p:nvPr>
            <a:videoFile r:link="rId6"/>
            <p:extLst>
              <p:ext uri="{DAA4B4D4-6D71-4841-9C94-3DE7FCFB9230}">
                <p14:media xmlns:p14="http://schemas.microsoft.com/office/powerpoint/2010/main" r:embed="rId7"/>
              </p:ext>
            </p:extLst>
            <p:custDataLst>
              <p:tags r:id="rId8"/>
            </p:custDataLst>
          </p:nvPr>
        </p:nvPicPr>
        <p:blipFill>
          <a:blip r:embed="rId9"/>
          <a:stretch>
            <a:fillRect/>
          </a:stretch>
        </p:blipFill>
        <p:spPr>
          <a:xfrm>
            <a:off x="9098915" y="4690745"/>
            <a:ext cx="2948305" cy="1383665"/>
          </a:xfrm>
          <a:prstGeom prst="rect">
            <a:avLst/>
          </a:prstGeom>
        </p:spPr>
      </p:pic>
      <p:pic>
        <p:nvPicPr>
          <p:cNvPr id="18" name="图片 17" descr="CodeBuddy"/>
          <p:cNvPicPr>
            <a:picLocks noChangeAspect="1"/>
          </p:cNvPicPr>
          <p:nvPr/>
        </p:nvPicPr>
        <p:blipFill>
          <a:blip r:embed="rId10"/>
          <a:stretch>
            <a:fillRect/>
          </a:stretch>
        </p:blipFill>
        <p:spPr>
          <a:xfrm>
            <a:off x="10076815" y="2700655"/>
            <a:ext cx="1941830" cy="7480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mediacall" presetSubtype="0" fill="hold" nodeType="withEffect">
                                  <p:stCondLst>
                                    <p:cond delay="0"/>
                                  </p:stCondLst>
                                  <p:childTnLst>
                                    <p:cmd type="call" cmd="playFrom(0.0)">
                                      <p:cBhvr additive="base">
                                        <p:cTn id="20" dur="14464" fill="hold"/>
                                        <p:tgtEl>
                                          <p:spTgt spid="17"/>
                                        </p:tgtEl>
                                      </p:cBhvr>
                                    </p:cmd>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fullScrn="0">
              <p:cMediaNode showWhenStopped="0">
                <p:cTn id="37" repeatCount="indefinite" fill="remove" display="1">
                  <p:stCondLst>
                    <p:cond delay="indefinite"/>
                  </p:stCondLst>
                </p:cTn>
                <p:tgtEl>
                  <p:spTgt spid="17"/>
                </p:tgtEl>
              </p:cMediaNode>
            </p:video>
            <p:seq concurrent="1" nextAc="seek">
              <p:cTn id="38" restart="whenNotActive" fill="hold" evtFilter="cancelBubble" nodeType="interactiveSeq">
                <p:stCondLst>
                  <p:cond evt="onClick" delay="0">
                    <p:tgtEl>
                      <p:spTgt spid="17"/>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withEffect">
                                  <p:stCondLst>
                                    <p:cond delay="0"/>
                                  </p:stCondLst>
                                  <p:childTnLst>
                                    <p:cmd type="call" cmd="togglePause">
                                      <p:cBhvr additive="base">
                                        <p:cTn id="42" dur="1" fill="hold"/>
                                        <p:tgtEl>
                                          <p:spTgt spid="17"/>
                                        </p:tgtEl>
                                      </p:cBhvr>
                                    </p:cmd>
                                  </p:childTnLst>
                                </p:cTn>
                              </p:par>
                            </p:childTnLst>
                          </p:cTn>
                        </p:par>
                      </p:childTnLst>
                    </p:cTn>
                  </p:par>
                </p:childTnLst>
              </p:cTn>
              <p:nextCondLst>
                <p:cond evt="onClick" delay="0">
                  <p:tgtEl>
                    <p:spTgt spid="17"/>
                  </p:tgtEl>
                </p:cond>
              </p:nextCondLst>
            </p:seq>
          </p:childTnLst>
        </p:cTn>
      </p:par>
    </p:tnLst>
    <p:bldLst>
      <p:bldP spid="2" grpId="0"/>
      <p:bldP spid="2" grpId="1"/>
      <p:bldP spid="4" grpId="0"/>
      <p:bldP spid="4" grpId="1"/>
      <p:bldP spid="6" grpId="0"/>
      <p:bldP spid="6" grpId="1"/>
      <p:bldP spid="7" grpId="0"/>
      <p:bldP spid="7" grpId="1"/>
    </p:bldLst>
  </p:timing>
</p:sld>
</file>

<file path=ppt/slides/slide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16386" name="等腰三角形 1"/>
          <p:cNvSpPr>
            <a:spLocks noChangeArrowheads="1"/>
          </p:cNvSpPr>
          <p:nvPr/>
        </p:nvSpPr>
        <p:spPr bwMode="auto">
          <a:xfrm flipV="1">
            <a:off x="3884613" y="17463"/>
            <a:ext cx="4418012" cy="3848100"/>
          </a:xfrm>
          <a:prstGeom prst="triangle">
            <a:avLst>
              <a:gd name="adj" fmla="val 50000"/>
            </a:avLst>
          </a:prstGeom>
          <a:solidFill>
            <a:srgbClr val="FFFFFF">
              <a:alpha val="29803"/>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6387" name="等腰三角形 2"/>
          <p:cNvSpPr>
            <a:spLocks noChangeArrowheads="1"/>
          </p:cNvSpPr>
          <p:nvPr/>
        </p:nvSpPr>
        <p:spPr bwMode="auto">
          <a:xfrm flipV="1">
            <a:off x="2878138" y="1736725"/>
            <a:ext cx="4418012" cy="3848100"/>
          </a:xfrm>
          <a:prstGeom prst="triangle">
            <a:avLst>
              <a:gd name="adj" fmla="val 50000"/>
            </a:avLst>
          </a:prstGeom>
          <a:solidFill>
            <a:srgbClr val="FFFFFF">
              <a:alpha val="29803"/>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6388" name="等腰三角形 3"/>
          <p:cNvSpPr>
            <a:spLocks noChangeArrowheads="1"/>
          </p:cNvSpPr>
          <p:nvPr/>
        </p:nvSpPr>
        <p:spPr bwMode="auto">
          <a:xfrm flipV="1">
            <a:off x="4891088" y="1736725"/>
            <a:ext cx="4419600" cy="3848100"/>
          </a:xfrm>
          <a:prstGeom prst="triangle">
            <a:avLst>
              <a:gd name="adj" fmla="val 50000"/>
            </a:avLst>
          </a:prstGeom>
          <a:solidFill>
            <a:srgbClr val="FFFFFF">
              <a:alpha val="29803"/>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6389" name="文本框 5"/>
          <p:cNvSpPr>
            <a:spLocks noChangeArrowheads="1"/>
          </p:cNvSpPr>
          <p:nvPr/>
        </p:nvSpPr>
        <p:spPr bwMode="auto">
          <a:xfrm>
            <a:off x="4262438" y="2474913"/>
            <a:ext cx="325628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6000" b="1">
                <a:solidFill>
                  <a:srgbClr val="093255"/>
                </a:solidFill>
                <a:latin typeface="方正姚体简体" panose="03000509000000000000" pitchFamily="65" charset="-122"/>
                <a:ea typeface="方正姚体简体" panose="03000509000000000000" pitchFamily="65" charset="-122"/>
                <a:sym typeface="方正姚体" panose="02010601030101010101" pitchFamily="2" charset="-122"/>
              </a:rPr>
              <a:t>CONTENTS</a:t>
            </a:r>
            <a:endParaRPr lang="zh-CN" altLang="en-US" sz="6000" b="1">
              <a:solidFill>
                <a:srgbClr val="093255"/>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6390" name="文本框 8"/>
          <p:cNvSpPr>
            <a:spLocks noChangeArrowheads="1"/>
          </p:cNvSpPr>
          <p:nvPr/>
        </p:nvSpPr>
        <p:spPr bwMode="auto">
          <a:xfrm>
            <a:off x="1898650" y="4051300"/>
            <a:ext cx="1104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GitHub</a:t>
            </a:r>
            <a:endPar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6391" name="文本框 9"/>
          <p:cNvSpPr>
            <a:spLocks noChangeArrowheads="1"/>
          </p:cNvSpPr>
          <p:nvPr/>
        </p:nvSpPr>
        <p:spPr bwMode="auto">
          <a:xfrm>
            <a:off x="9617393" y="4051300"/>
            <a:ext cx="6438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APP</a:t>
            </a:r>
            <a:endParaRPr lang="zh-CN" altLang="en-US"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6392" name="文本框 10"/>
          <p:cNvSpPr>
            <a:spLocks noChangeArrowheads="1"/>
          </p:cNvSpPr>
          <p:nvPr/>
        </p:nvSpPr>
        <p:spPr bwMode="auto">
          <a:xfrm>
            <a:off x="1898333" y="5270500"/>
            <a:ext cx="1104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WeChat</a:t>
            </a:r>
            <a:endParaRPr lang="zh-CN" altLang="en-US"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16393" name="文本框 11"/>
          <p:cNvSpPr>
            <a:spLocks noChangeArrowheads="1"/>
          </p:cNvSpPr>
          <p:nvPr/>
        </p:nvSpPr>
        <p:spPr bwMode="auto">
          <a:xfrm>
            <a:off x="8618855" y="5270500"/>
            <a:ext cx="2641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Our own computer</a:t>
            </a:r>
            <a:endParaRPr lang="zh-CN" altLang="en-US"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
        <p:nvSpPr>
          <p:cNvPr id="2" name="文本框 1"/>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3" name="文本框 8"/>
          <p:cNvSpPr>
            <a:spLocks noChangeArrowheads="1"/>
          </p:cNvSpPr>
          <p:nvPr/>
        </p:nvSpPr>
        <p:spPr bwMode="auto">
          <a:xfrm>
            <a:off x="4723765" y="4707255"/>
            <a:ext cx="23342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Other products</a:t>
            </a:r>
            <a:endParaRPr lang="en-US" altLang="zh-CN" sz="24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17410" name="等腰三角形 16"/>
          <p:cNvSpPr>
            <a:spLocks noChangeArrowheads="1"/>
          </p:cNvSpPr>
          <p:nvPr/>
        </p:nvSpPr>
        <p:spPr bwMode="auto">
          <a:xfrm>
            <a:off x="1889125" y="4375150"/>
            <a:ext cx="2689225" cy="24828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7411" name="文本框 19"/>
          <p:cNvSpPr>
            <a:spLocks noChangeArrowheads="1"/>
          </p:cNvSpPr>
          <p:nvPr/>
        </p:nvSpPr>
        <p:spPr bwMode="auto">
          <a:xfrm>
            <a:off x="7503160" y="3136583"/>
            <a:ext cx="14135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GitHub</a:t>
            </a:r>
            <a:endParaRPr lang="en-US" altLang="zh-CN" sz="3600">
              <a:solidFill>
                <a:schemeClr val="bg1"/>
              </a:solidFill>
              <a:latin typeface="方正姚体简体" panose="03000509000000000000" pitchFamily="65" charset="-122"/>
              <a:sym typeface="方正姚体" panose="02010601030101010101" pitchFamily="2" charset="-122"/>
            </a:endParaRPr>
          </a:p>
        </p:txBody>
      </p:sp>
      <p:sp>
        <p:nvSpPr>
          <p:cNvPr id="17413" name="直接连接符 21"/>
          <p:cNvSpPr>
            <a:spLocks noChangeShapeType="1"/>
          </p:cNvSpPr>
          <p:nvPr/>
        </p:nvSpPr>
        <p:spPr bwMode="auto">
          <a:xfrm rot="5400000">
            <a:off x="8209757" y="1100931"/>
            <a:ext cx="0" cy="5903913"/>
          </a:xfrm>
          <a:prstGeom prst="line">
            <a:avLst/>
          </a:prstGeom>
          <a:noFill/>
          <a:ln w="12700">
            <a:solidFill>
              <a:srgbClr val="FFFFFF">
                <a:alpha val="50195"/>
              </a:srgb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17414" name="等腰三角形 24"/>
          <p:cNvSpPr>
            <a:spLocks noChangeArrowheads="1"/>
          </p:cNvSpPr>
          <p:nvPr/>
        </p:nvSpPr>
        <p:spPr bwMode="auto">
          <a:xfrm>
            <a:off x="2155825" y="4867275"/>
            <a:ext cx="2155825" cy="1990725"/>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7415" name="等腰三角形 26"/>
          <p:cNvSpPr>
            <a:spLocks noChangeArrowheads="1"/>
          </p:cNvSpPr>
          <p:nvPr/>
        </p:nvSpPr>
        <p:spPr bwMode="auto">
          <a:xfrm flipV="1">
            <a:off x="868363" y="0"/>
            <a:ext cx="4738687" cy="43751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7416" name="等腰三角形 28"/>
          <p:cNvSpPr>
            <a:spLocks noChangeArrowheads="1"/>
          </p:cNvSpPr>
          <p:nvPr/>
        </p:nvSpPr>
        <p:spPr bwMode="auto">
          <a:xfrm flipV="1">
            <a:off x="1177925" y="-19050"/>
            <a:ext cx="4140200" cy="382270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7417" name="文本框 29"/>
          <p:cNvSpPr>
            <a:spLocks noChangeArrowheads="1"/>
          </p:cNvSpPr>
          <p:nvPr/>
        </p:nvSpPr>
        <p:spPr bwMode="auto">
          <a:xfrm>
            <a:off x="2463800" y="428625"/>
            <a:ext cx="15398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1500" b="1">
                <a:solidFill>
                  <a:srgbClr val="093255"/>
                </a:solidFill>
                <a:latin typeface="Impact" panose="020B0806030902050204" pitchFamily="34" charset="0"/>
                <a:sym typeface="Impact" panose="020B0806030902050204" pitchFamily="34" charset="0"/>
              </a:rPr>
              <a:t>01</a:t>
            </a:r>
            <a:endParaRPr lang="zh-CN" altLang="en-US" sz="11500" b="1">
              <a:solidFill>
                <a:srgbClr val="093255"/>
              </a:solidFill>
              <a:latin typeface="Impact" panose="020B0806030902050204" pitchFamily="34" charset="0"/>
              <a:sym typeface="Impact" panose="020B0806030902050204" pitchFamily="34" charset="0"/>
            </a:endParaRPr>
          </a:p>
        </p:txBody>
      </p:sp>
      <p:sp>
        <p:nvSpPr>
          <p:cNvPr id="2" name="文本框 1"/>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619750" y="251460"/>
            <a:ext cx="9525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sym typeface="方正姚体" panose="02010601030101010101" pitchFamily="2" charset="-122"/>
              </a:rPr>
              <a:t>GitHub</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1012825"/>
            <a:ext cx="9236075" cy="82994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If I want you to build a student chat platform for Nanjing Foreign Language School Huai'an Campus, what would be your first choice?</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4580890" y="1932305"/>
            <a:ext cx="2997835" cy="46037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I</a:t>
            </a:r>
            <a:r>
              <a:rPr lang="zh-CN" altLang="en-US" sz="2400" b="1">
                <a:solidFill>
                  <a:schemeClr val="bg1"/>
                </a:solidFill>
                <a:latin typeface="方正小标宋简体" panose="03000509000000000000" charset="-122"/>
                <a:ea typeface="方正小标宋简体" panose="03000509000000000000" charset="-122"/>
              </a:rPr>
              <a:t> will choose GitHub.</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6" name="文本框 5"/>
          <p:cNvSpPr txBox="1"/>
          <p:nvPr/>
        </p:nvSpPr>
        <p:spPr>
          <a:xfrm>
            <a:off x="5619750" y="2482215"/>
            <a:ext cx="989330"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Why?</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4655820" y="3032125"/>
            <a:ext cx="2849245"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Let's watch a </a:t>
            </a:r>
            <a:r>
              <a:rPr lang="en-US" altLang="zh-CN" sz="2400" b="1">
                <a:solidFill>
                  <a:schemeClr val="bg1"/>
                </a:solidFill>
                <a:latin typeface="方正小标宋简体" panose="03000509000000000000" charset="-122"/>
                <a:ea typeface="方正小标宋简体" panose="03000509000000000000" charset="-122"/>
                <a:hlinkClick r:id="rId2"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video</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8" name="文本框 7"/>
          <p:cNvSpPr txBox="1"/>
          <p:nvPr/>
        </p:nvSpPr>
        <p:spPr>
          <a:xfrm>
            <a:off x="3720465" y="3582035"/>
            <a:ext cx="4788535" cy="82994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So, I have successfully built this chat platform — </a:t>
            </a:r>
            <a:r>
              <a:rPr lang="en-US" altLang="zh-CN" sz="2400" b="1">
                <a:solidFill>
                  <a:schemeClr val="bg1"/>
                </a:solidFill>
                <a:latin typeface="方正小标宋简体" panose="03000509000000000000" charset="-122"/>
                <a:ea typeface="方正小标宋简体" panose="03000509000000000000" charset="-122"/>
                <a:hlinkClick r:id="rId3"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NFLSHC Chat</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9" name="文本框 8"/>
          <p:cNvSpPr txBox="1"/>
          <p:nvPr/>
        </p:nvSpPr>
        <p:spPr>
          <a:xfrm>
            <a:off x="3497580" y="4501515"/>
            <a:ext cx="5163820"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Now, let's take a look at </a:t>
            </a:r>
            <a:r>
              <a:rPr lang="en-US" altLang="zh-CN" sz="2400" b="1">
                <a:solidFill>
                  <a:schemeClr val="bg1"/>
                </a:solidFill>
                <a:latin typeface="方正小标宋简体" panose="03000509000000000000" charset="-122"/>
                <a:ea typeface="方正小标宋简体" panose="03000509000000000000" charset="-122"/>
                <a:hlinkClick r:id="rId4"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how it works</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pic>
        <p:nvPicPr>
          <p:cNvPr id="5" name="图片 4" descr="LOGO"/>
          <p:cNvPicPr>
            <a:picLocks noChangeAspect="1"/>
          </p:cNvPicPr>
          <p:nvPr/>
        </p:nvPicPr>
        <p:blipFill>
          <a:blip r:embed="rId5"/>
          <a:stretch>
            <a:fillRect/>
          </a:stretch>
        </p:blipFill>
        <p:spPr>
          <a:xfrm>
            <a:off x="221615" y="2023745"/>
            <a:ext cx="3396615" cy="2296795"/>
          </a:xfrm>
          <a:prstGeom prst="rect">
            <a:avLst/>
          </a:prstGeom>
        </p:spPr>
      </p:pic>
      <p:pic>
        <p:nvPicPr>
          <p:cNvPr id="11" name="图片 10"/>
          <p:cNvPicPr/>
          <p:nvPr/>
        </p:nvPicPr>
        <p:blipFill>
          <a:blip r:embed="rId6"/>
        </p:blipFill>
        <p:spPr>
          <a:xfrm>
            <a:off x="9056370" y="2179320"/>
            <a:ext cx="2346325" cy="2219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6" grpId="0"/>
      <p:bldP spid="6" grpId="1"/>
      <p:bldP spid="7" grpId="0"/>
      <p:bldP spid="7" grpId="1"/>
      <p:bldP spid="8" grpId="0"/>
      <p:bldP spid="8" grpId="1"/>
      <p:bldP spid="9" grpId="0"/>
      <p:bldP spid="9" grpId="1"/>
    </p:bldLst>
  </p:timing>
</p:sld>
</file>

<file path=ppt/slides/slide7.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22530" name="等腰三角形 16"/>
          <p:cNvSpPr>
            <a:spLocks noChangeArrowheads="1"/>
          </p:cNvSpPr>
          <p:nvPr/>
        </p:nvSpPr>
        <p:spPr bwMode="auto">
          <a:xfrm>
            <a:off x="1889125" y="4375150"/>
            <a:ext cx="2689225" cy="24828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2531" name="文本框 19"/>
          <p:cNvSpPr>
            <a:spLocks noChangeArrowheads="1"/>
          </p:cNvSpPr>
          <p:nvPr/>
        </p:nvSpPr>
        <p:spPr bwMode="auto">
          <a:xfrm>
            <a:off x="7811135" y="3136583"/>
            <a:ext cx="79819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APP</a:t>
            </a:r>
            <a:endParaRPr lang="en-US" altLang="zh-CN" sz="3600">
              <a:solidFill>
                <a:schemeClr val="bg1"/>
              </a:solidFill>
              <a:latin typeface="方正姚体简体" panose="03000509000000000000" pitchFamily="65" charset="-122"/>
              <a:sym typeface="方正姚体" panose="02010601030101010101" pitchFamily="2" charset="-122"/>
            </a:endParaRPr>
          </a:p>
        </p:txBody>
      </p:sp>
      <p:sp>
        <p:nvSpPr>
          <p:cNvPr id="22533" name="直接连接符 21"/>
          <p:cNvSpPr>
            <a:spLocks noChangeShapeType="1"/>
          </p:cNvSpPr>
          <p:nvPr/>
        </p:nvSpPr>
        <p:spPr bwMode="auto">
          <a:xfrm rot="5400000">
            <a:off x="8209757" y="1100931"/>
            <a:ext cx="0" cy="5903913"/>
          </a:xfrm>
          <a:prstGeom prst="line">
            <a:avLst/>
          </a:prstGeom>
          <a:noFill/>
          <a:ln w="12700">
            <a:solidFill>
              <a:srgbClr val="FFFFFF">
                <a:alpha val="50195"/>
              </a:srgb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22534" name="等腰三角形 24"/>
          <p:cNvSpPr>
            <a:spLocks noChangeArrowheads="1"/>
          </p:cNvSpPr>
          <p:nvPr/>
        </p:nvSpPr>
        <p:spPr bwMode="auto">
          <a:xfrm>
            <a:off x="2155825" y="4867275"/>
            <a:ext cx="2155825" cy="1990725"/>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2535" name="等腰三角形 26"/>
          <p:cNvSpPr>
            <a:spLocks noChangeArrowheads="1"/>
          </p:cNvSpPr>
          <p:nvPr/>
        </p:nvSpPr>
        <p:spPr bwMode="auto">
          <a:xfrm flipV="1">
            <a:off x="868363" y="0"/>
            <a:ext cx="4738687" cy="43751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2536" name="等腰三角形 28"/>
          <p:cNvSpPr>
            <a:spLocks noChangeArrowheads="1"/>
          </p:cNvSpPr>
          <p:nvPr/>
        </p:nvSpPr>
        <p:spPr bwMode="auto">
          <a:xfrm flipV="1">
            <a:off x="1177925" y="-19050"/>
            <a:ext cx="4140200" cy="382270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2537" name="文本框 29"/>
          <p:cNvSpPr>
            <a:spLocks noChangeArrowheads="1"/>
          </p:cNvSpPr>
          <p:nvPr/>
        </p:nvSpPr>
        <p:spPr bwMode="auto">
          <a:xfrm>
            <a:off x="2463800" y="428625"/>
            <a:ext cx="171767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1500" b="1">
                <a:solidFill>
                  <a:srgbClr val="093255"/>
                </a:solidFill>
                <a:latin typeface="Impact" panose="020B0806030902050204" pitchFamily="34" charset="0"/>
                <a:sym typeface="Impact" panose="020B0806030902050204" pitchFamily="34" charset="0"/>
              </a:rPr>
              <a:t>02</a:t>
            </a:r>
            <a:endParaRPr lang="zh-CN" altLang="en-US" sz="11500" b="1">
              <a:solidFill>
                <a:srgbClr val="093255"/>
              </a:solidFill>
              <a:latin typeface="Impact" panose="020B0806030902050204" pitchFamily="34" charset="0"/>
              <a:sym typeface="Impact" panose="020B0806030902050204" pitchFamily="34" charset="0"/>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830570" y="260350"/>
            <a:ext cx="5676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sym typeface="方正姚体" panose="02010601030101010101" pitchFamily="2" charset="-122"/>
              </a:rPr>
              <a:t>APP</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1012825"/>
            <a:ext cx="9236075" cy="1198880"/>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But that's not enough. The programmer Lucas gave me a suggestion: WeChat is popular because it is very convenient, an app that you can use as soon as you open it.</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4060825" y="2290445"/>
            <a:ext cx="4038600" cy="82994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So I made the </a:t>
            </a:r>
            <a:r>
              <a:rPr lang="zh-CN" altLang="en-US" sz="2400" b="1">
                <a:solidFill>
                  <a:schemeClr val="bg1"/>
                </a:solidFill>
                <a:latin typeface="方正小标宋简体" panose="03000509000000000000" charset="-122"/>
                <a:ea typeface="方正小标宋简体" panose="03000509000000000000" charset="-122"/>
                <a:hlinkClick r:id="rId2">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NFLSHC Chat APP version</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pic>
        <p:nvPicPr>
          <p:cNvPr id="10" name="图片 9" descr="NFLSHC Chat Android"/>
          <p:cNvPicPr>
            <a:picLocks noChangeAspect="1"/>
          </p:cNvPicPr>
          <p:nvPr/>
        </p:nvPicPr>
        <p:blipFill>
          <a:blip r:embed="rId3"/>
          <a:stretch>
            <a:fillRect/>
          </a:stretch>
        </p:blipFill>
        <p:spPr>
          <a:xfrm>
            <a:off x="8192770" y="2002155"/>
            <a:ext cx="3810000" cy="3810000"/>
          </a:xfrm>
          <a:prstGeom prst="rect">
            <a:avLst/>
          </a:prstGeom>
        </p:spPr>
      </p:pic>
      <p:sp>
        <p:nvSpPr>
          <p:cNvPr id="11" name="文本框 10"/>
          <p:cNvSpPr txBox="1"/>
          <p:nvPr/>
        </p:nvSpPr>
        <p:spPr>
          <a:xfrm>
            <a:off x="4251325" y="3199130"/>
            <a:ext cx="3689350" cy="1198880"/>
          </a:xfrm>
          <a:prstGeom prst="rect">
            <a:avLst/>
          </a:prstGeom>
          <a:noFill/>
        </p:spPr>
        <p:txBody>
          <a:bodyPr wrap="square" rtlCol="0">
            <a:spAutoFit/>
          </a:bodyPr>
          <a:p>
            <a:r>
              <a:rPr sz="2400" b="1">
                <a:solidFill>
                  <a:schemeClr val="bg1"/>
                </a:solidFill>
                <a:latin typeface="方正小标宋简体" panose="03000509000000000000" charset="-122"/>
                <a:ea typeface="方正小标宋简体" panose="03000509000000000000" charset="-122"/>
              </a:rPr>
              <a:t>So far, it only supports the Android system</a:t>
            </a:r>
            <a:r>
              <a:rPr lang="en-US" sz="2400" b="1">
                <a:solidFill>
                  <a:schemeClr val="bg1"/>
                </a:solidFill>
                <a:latin typeface="方正小标宋简体" panose="03000509000000000000" charset="-122"/>
                <a:ea typeface="方正小标宋简体" panose="03000509000000000000" charset="-122"/>
              </a:rPr>
              <a:t> and Windows system</a:t>
            </a:r>
            <a:r>
              <a:rPr sz="2400" b="1">
                <a:solidFill>
                  <a:schemeClr val="bg1"/>
                </a:solidFill>
                <a:latin typeface="方正小标宋简体" panose="03000509000000000000" charset="-122"/>
                <a:ea typeface="方正小标宋简体" panose="03000509000000000000" charset="-122"/>
              </a:rPr>
              <a:t>.</a:t>
            </a:r>
            <a:endParaRPr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4163695" y="4476750"/>
            <a:ext cx="3670300"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Let's watch a </a:t>
            </a:r>
            <a:r>
              <a:rPr lang="en-US" altLang="zh-CN" sz="2400" b="1">
                <a:solidFill>
                  <a:schemeClr val="bg1"/>
                </a:solidFill>
                <a:latin typeface="方正小标宋简体" panose="03000509000000000000" charset="-122"/>
                <a:ea typeface="方正小标宋简体" panose="03000509000000000000" charset="-122"/>
                <a:hlinkClick r:id="rId4"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video about </a:t>
            </a:r>
            <a:r>
              <a:rPr sz="2400" b="1">
                <a:solidFill>
                  <a:schemeClr val="bg1"/>
                </a:solidFill>
                <a:latin typeface="方正小标宋简体" panose="03000509000000000000" charset="-122"/>
                <a:ea typeface="方正小标宋简体" panose="03000509000000000000" charset="-122"/>
                <a:sym typeface="+mn-ea"/>
                <a:hlinkClick r:id="rId4"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NFLSHC Chat Windows Desktop</a:t>
            </a:r>
            <a:r>
              <a:rPr lang="en-US" sz="2400" b="1">
                <a:solidFill>
                  <a:schemeClr val="bg1"/>
                </a:solidFill>
                <a:latin typeface="方正小标宋简体" panose="03000509000000000000" charset="-122"/>
                <a:ea typeface="方正小标宋简体" panose="03000509000000000000" charset="-122"/>
                <a:sym typeface="+mn-ea"/>
              </a:rPr>
              <a:t>.</a:t>
            </a:r>
            <a:endParaRPr lang="en-US" sz="2400" b="1">
              <a:solidFill>
                <a:schemeClr val="bg1"/>
              </a:solidFill>
              <a:latin typeface="方正小标宋简体" panose="03000509000000000000" charset="-122"/>
              <a:ea typeface="方正小标宋简体" panose="03000509000000000000" charset="-122"/>
              <a:sym typeface="+mn-ea"/>
            </a:endParaRPr>
          </a:p>
        </p:txBody>
      </p:sp>
      <p:pic>
        <p:nvPicPr>
          <p:cNvPr id="6" name="图片 5" descr="NFLSHC Chat Windows Desktop NSIS Installer Version"/>
          <p:cNvPicPr>
            <a:picLocks noChangeAspect="1"/>
          </p:cNvPicPr>
          <p:nvPr/>
        </p:nvPicPr>
        <p:blipFill>
          <a:blip r:embed="rId5"/>
          <a:stretch>
            <a:fillRect/>
          </a:stretch>
        </p:blipFill>
        <p:spPr>
          <a:xfrm>
            <a:off x="160020" y="2772410"/>
            <a:ext cx="1856105" cy="2313305"/>
          </a:xfrm>
          <a:prstGeom prst="rect">
            <a:avLst/>
          </a:prstGeom>
        </p:spPr>
      </p:pic>
      <p:pic>
        <p:nvPicPr>
          <p:cNvPr id="8" name="图片 7" descr="NFLSHC Chat Windows Desktop Portable Edition"/>
          <p:cNvPicPr>
            <a:picLocks noChangeAspect="1"/>
          </p:cNvPicPr>
          <p:nvPr/>
        </p:nvPicPr>
        <p:blipFill>
          <a:blip r:embed="rId6"/>
          <a:stretch>
            <a:fillRect/>
          </a:stretch>
        </p:blipFill>
        <p:spPr>
          <a:xfrm>
            <a:off x="2136775" y="2772410"/>
            <a:ext cx="1906270" cy="2333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11" grpId="0"/>
      <p:bldP spid="11" grpId="1"/>
      <p:bldP spid="7" grpId="0"/>
      <p:bldP spid="7" grpId="1"/>
    </p:bldLst>
  </p:timing>
</p:sld>
</file>

<file path=ppt/slides/slide9.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27650" name="等腰三角形 16"/>
          <p:cNvSpPr>
            <a:spLocks noChangeArrowheads="1"/>
          </p:cNvSpPr>
          <p:nvPr/>
        </p:nvSpPr>
        <p:spPr bwMode="auto">
          <a:xfrm>
            <a:off x="1889125" y="4375150"/>
            <a:ext cx="2689225" cy="24828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7651" name="文本框 19"/>
          <p:cNvSpPr>
            <a:spLocks noChangeArrowheads="1"/>
          </p:cNvSpPr>
          <p:nvPr/>
        </p:nvSpPr>
        <p:spPr bwMode="auto">
          <a:xfrm>
            <a:off x="7694930" y="3137218"/>
            <a:ext cx="141351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WeChat</a:t>
            </a:r>
            <a:endParaRPr lang="en-US" altLang="zh-CN" sz="3600">
              <a:solidFill>
                <a:schemeClr val="bg1"/>
              </a:solidFill>
              <a:latin typeface="方正姚体简体" panose="03000509000000000000" pitchFamily="65" charset="-122"/>
              <a:sym typeface="方正姚体" panose="02010601030101010101" pitchFamily="2" charset="-122"/>
            </a:endParaRPr>
          </a:p>
        </p:txBody>
      </p:sp>
      <p:sp>
        <p:nvSpPr>
          <p:cNvPr id="27653" name="直接连接符 21"/>
          <p:cNvSpPr>
            <a:spLocks noChangeShapeType="1"/>
          </p:cNvSpPr>
          <p:nvPr/>
        </p:nvSpPr>
        <p:spPr bwMode="auto">
          <a:xfrm rot="5400000">
            <a:off x="8209757" y="1100931"/>
            <a:ext cx="0" cy="5903913"/>
          </a:xfrm>
          <a:prstGeom prst="line">
            <a:avLst/>
          </a:prstGeom>
          <a:noFill/>
          <a:ln w="12700">
            <a:solidFill>
              <a:srgbClr val="FFFFFF">
                <a:alpha val="50195"/>
              </a:srgb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27654" name="等腰三角形 24"/>
          <p:cNvSpPr>
            <a:spLocks noChangeArrowheads="1"/>
          </p:cNvSpPr>
          <p:nvPr/>
        </p:nvSpPr>
        <p:spPr bwMode="auto">
          <a:xfrm>
            <a:off x="2155825" y="4867275"/>
            <a:ext cx="2155825" cy="1990725"/>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7655" name="等腰三角形 26"/>
          <p:cNvSpPr>
            <a:spLocks noChangeArrowheads="1"/>
          </p:cNvSpPr>
          <p:nvPr/>
        </p:nvSpPr>
        <p:spPr bwMode="auto">
          <a:xfrm flipV="1">
            <a:off x="868363" y="0"/>
            <a:ext cx="4738687" cy="43751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7656" name="等腰三角形 28"/>
          <p:cNvSpPr>
            <a:spLocks noChangeArrowheads="1"/>
          </p:cNvSpPr>
          <p:nvPr/>
        </p:nvSpPr>
        <p:spPr bwMode="auto">
          <a:xfrm flipV="1">
            <a:off x="1177925" y="-19050"/>
            <a:ext cx="4140200" cy="382270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27657" name="文本框 29"/>
          <p:cNvSpPr>
            <a:spLocks noChangeArrowheads="1"/>
          </p:cNvSpPr>
          <p:nvPr/>
        </p:nvSpPr>
        <p:spPr bwMode="auto">
          <a:xfrm>
            <a:off x="2463800" y="428625"/>
            <a:ext cx="1758950"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1500" b="1">
                <a:solidFill>
                  <a:srgbClr val="093255"/>
                </a:solidFill>
                <a:latin typeface="Impact" panose="020B0806030902050204" pitchFamily="34" charset="0"/>
                <a:sym typeface="Impact" panose="020B0806030902050204" pitchFamily="34" charset="0"/>
              </a:rPr>
              <a:t>03</a:t>
            </a:r>
            <a:endParaRPr lang="zh-CN" altLang="en-US" sz="11500" b="1">
              <a:solidFill>
                <a:srgbClr val="093255"/>
              </a:solidFill>
              <a:latin typeface="Impact" panose="020B0806030902050204" pitchFamily="34" charset="0"/>
              <a:sym typeface="Impact" panose="020B0806030902050204" pitchFamily="34" charset="0"/>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619750" y="251460"/>
            <a:ext cx="9525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WeChat</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1012825"/>
            <a:ext cx="9236075" cy="82994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However, GitHub Pages uses foreign servers, which results in slower loading within the country. Are there any other solutions?</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3209925" y="1932305"/>
            <a:ext cx="5810250" cy="46037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Yes, for example, WeChat Mini Programs.</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6" name="文本框 5"/>
          <p:cNvSpPr txBox="1"/>
          <p:nvPr/>
        </p:nvSpPr>
        <p:spPr>
          <a:xfrm>
            <a:off x="3718560" y="2482215"/>
            <a:ext cx="4790440"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What is a WeChat Mini Program?</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4654550" y="3032125"/>
            <a:ext cx="2849245"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Let's watch a </a:t>
            </a:r>
            <a:r>
              <a:rPr lang="en-US" altLang="zh-CN" sz="2400" b="1">
                <a:solidFill>
                  <a:schemeClr val="bg1"/>
                </a:solidFill>
                <a:latin typeface="方正小标宋简体" panose="03000509000000000000" charset="-122"/>
                <a:ea typeface="方正小标宋简体" panose="03000509000000000000" charset="-122"/>
                <a:hlinkClick r:id="rId2"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video</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8" name="文本框 7"/>
          <p:cNvSpPr txBox="1"/>
          <p:nvPr/>
        </p:nvSpPr>
        <p:spPr>
          <a:xfrm>
            <a:off x="3445510" y="3582035"/>
            <a:ext cx="5160010"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In the end, I finished the </a:t>
            </a:r>
            <a:r>
              <a:rPr lang="en-US" altLang="zh-CN" sz="2400" b="1">
                <a:solidFill>
                  <a:schemeClr val="bg1"/>
                </a:solidFill>
                <a:latin typeface="方正小标宋简体" panose="03000509000000000000" charset="-122"/>
                <a:ea typeface="方正小标宋简体" panose="03000509000000000000" charset="-122"/>
                <a:hlinkClick r:id="rId3"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NFLSHC Chat WeChat mini program</a:t>
            </a:r>
            <a:r>
              <a:rPr lang="en-US" altLang="zh-CN" sz="2400" b="1">
                <a:solidFill>
                  <a:schemeClr val="bg1"/>
                </a:solidFill>
                <a:latin typeface="方正小标宋简体" panose="03000509000000000000" charset="-122"/>
                <a:ea typeface="方正小标宋简体" panose="03000509000000000000" charset="-122"/>
              </a:rPr>
              <a:t> for real-time communication.</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9" name="文本框 8"/>
          <p:cNvSpPr txBox="1"/>
          <p:nvPr/>
        </p:nvSpPr>
        <p:spPr>
          <a:xfrm>
            <a:off x="3056255" y="4870450"/>
            <a:ext cx="6045835"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You can follow our official account and then send your WeChat ID, so we can give you access to try out our WeChat mini program.</a:t>
            </a:r>
            <a:endParaRPr lang="en-US" altLang="zh-CN" sz="2400" b="1">
              <a:solidFill>
                <a:schemeClr val="bg1"/>
              </a:solidFill>
              <a:latin typeface="方正小标宋简体" panose="03000509000000000000" charset="-122"/>
              <a:ea typeface="方正小标宋简体" panose="03000509000000000000" charset="-122"/>
            </a:endParaRPr>
          </a:p>
        </p:txBody>
      </p:sp>
      <p:pic>
        <p:nvPicPr>
          <p:cNvPr id="5" name="图片 4" descr="NFLSHC Chat 微信小程序"/>
          <p:cNvPicPr>
            <a:picLocks noChangeAspect="1"/>
          </p:cNvPicPr>
          <p:nvPr/>
        </p:nvPicPr>
        <p:blipFill>
          <a:blip r:embed="rId4"/>
          <a:stretch>
            <a:fillRect/>
          </a:stretch>
        </p:blipFill>
        <p:spPr>
          <a:xfrm>
            <a:off x="133350" y="2205355"/>
            <a:ext cx="2922905" cy="3286760"/>
          </a:xfrm>
          <a:prstGeom prst="rect">
            <a:avLst/>
          </a:prstGeom>
        </p:spPr>
      </p:pic>
      <p:pic>
        <p:nvPicPr>
          <p:cNvPr id="12" name="图片 11"/>
          <p:cNvPicPr>
            <a:picLocks noChangeAspect="1"/>
          </p:cNvPicPr>
          <p:nvPr/>
        </p:nvPicPr>
        <p:blipFill>
          <a:blip r:embed="rId5"/>
          <a:stretch>
            <a:fillRect/>
          </a:stretch>
        </p:blipFill>
        <p:spPr>
          <a:xfrm>
            <a:off x="9171305" y="2482215"/>
            <a:ext cx="2745740" cy="26739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6" grpId="0"/>
      <p:bldP spid="6" grpId="1"/>
      <p:bldP spid="7" grpId="0"/>
      <p:bldP spid="7" grpId="1"/>
      <p:bldP spid="8" grpId="0"/>
      <p:bldP spid="8" grpId="1"/>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32770" name="等腰三角形 16"/>
          <p:cNvSpPr>
            <a:spLocks noChangeArrowheads="1"/>
          </p:cNvSpPr>
          <p:nvPr/>
        </p:nvSpPr>
        <p:spPr bwMode="auto">
          <a:xfrm>
            <a:off x="1889125" y="4375150"/>
            <a:ext cx="2689225" cy="24828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1" name="文本框 19"/>
          <p:cNvSpPr>
            <a:spLocks noChangeArrowheads="1"/>
          </p:cNvSpPr>
          <p:nvPr/>
        </p:nvSpPr>
        <p:spPr bwMode="auto">
          <a:xfrm>
            <a:off x="6477635" y="3219768"/>
            <a:ext cx="346456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Our own computer</a:t>
            </a:r>
            <a:endParaRPr lang="en-US" altLang="zh-CN" sz="3600">
              <a:solidFill>
                <a:schemeClr val="bg1"/>
              </a:solidFill>
              <a:latin typeface="方正姚体简体" panose="03000509000000000000" pitchFamily="65" charset="-122"/>
              <a:sym typeface="方正姚体" panose="02010601030101010101" pitchFamily="2" charset="-122"/>
            </a:endParaRPr>
          </a:p>
        </p:txBody>
      </p:sp>
      <p:sp>
        <p:nvSpPr>
          <p:cNvPr id="32773" name="直接连接符 21"/>
          <p:cNvSpPr>
            <a:spLocks noChangeShapeType="1"/>
          </p:cNvSpPr>
          <p:nvPr/>
        </p:nvSpPr>
        <p:spPr bwMode="auto">
          <a:xfrm rot="5400000">
            <a:off x="8209757" y="1100931"/>
            <a:ext cx="0" cy="5903913"/>
          </a:xfrm>
          <a:prstGeom prst="line">
            <a:avLst/>
          </a:prstGeom>
          <a:noFill/>
          <a:ln w="12700">
            <a:solidFill>
              <a:srgbClr val="FFFFFF">
                <a:alpha val="50195"/>
              </a:srgb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32774" name="等腰三角形 24"/>
          <p:cNvSpPr>
            <a:spLocks noChangeArrowheads="1"/>
          </p:cNvSpPr>
          <p:nvPr/>
        </p:nvSpPr>
        <p:spPr bwMode="auto">
          <a:xfrm>
            <a:off x="2155825" y="4867275"/>
            <a:ext cx="2155825" cy="1990725"/>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5" name="等腰三角形 26"/>
          <p:cNvSpPr>
            <a:spLocks noChangeArrowheads="1"/>
          </p:cNvSpPr>
          <p:nvPr/>
        </p:nvSpPr>
        <p:spPr bwMode="auto">
          <a:xfrm flipV="1">
            <a:off x="868363" y="0"/>
            <a:ext cx="4738687" cy="43751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6" name="等腰三角形 28"/>
          <p:cNvSpPr>
            <a:spLocks noChangeArrowheads="1"/>
          </p:cNvSpPr>
          <p:nvPr/>
        </p:nvSpPr>
        <p:spPr bwMode="auto">
          <a:xfrm flipV="1">
            <a:off x="1177925" y="-19050"/>
            <a:ext cx="4140200" cy="382270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7" name="文本框 29"/>
          <p:cNvSpPr>
            <a:spLocks noChangeArrowheads="1"/>
          </p:cNvSpPr>
          <p:nvPr/>
        </p:nvSpPr>
        <p:spPr bwMode="auto">
          <a:xfrm>
            <a:off x="2463800" y="428625"/>
            <a:ext cx="1714500"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1500" b="1">
                <a:solidFill>
                  <a:srgbClr val="093255"/>
                </a:solidFill>
                <a:latin typeface="Impact" panose="020B0806030902050204" pitchFamily="34" charset="0"/>
                <a:sym typeface="Impact" panose="020B0806030902050204" pitchFamily="34" charset="0"/>
              </a:rPr>
              <a:t>04</a:t>
            </a:r>
            <a:endParaRPr lang="zh-CN" altLang="en-US" sz="11500" b="1">
              <a:solidFill>
                <a:srgbClr val="093255"/>
              </a:solidFill>
              <a:latin typeface="Impact" panose="020B0806030902050204" pitchFamily="34" charset="0"/>
              <a:sym typeface="Impact" panose="020B0806030902050204" pitchFamily="34" charset="0"/>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4997450" y="251460"/>
            <a:ext cx="22352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Our own computer</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1012825"/>
            <a:ext cx="9236075" cy="82994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But WeChat mini programs have a limit on the number of users who can try them. So, are there any other </a:t>
            </a:r>
            <a:r>
              <a:rPr lang="zh-CN" altLang="en-US" sz="2400" b="1">
                <a:solidFill>
                  <a:schemeClr val="bg1"/>
                </a:solidFill>
                <a:latin typeface="方正小标宋简体" panose="03000509000000000000" charset="-122"/>
                <a:ea typeface="方正小标宋简体" panose="03000509000000000000" charset="-122"/>
                <a:sym typeface="+mn-ea"/>
              </a:rPr>
              <a:t>solutions</a:t>
            </a:r>
            <a:r>
              <a:rPr lang="zh-CN" altLang="en-US" sz="2400" b="1">
                <a:solidFill>
                  <a:schemeClr val="bg1"/>
                </a:solidFill>
                <a:latin typeface="方正小标宋简体" panose="03000509000000000000" charset="-122"/>
                <a:ea typeface="方正小标宋简体" panose="03000509000000000000" charset="-122"/>
              </a:rPr>
              <a:t>?</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3379470" y="1932305"/>
            <a:ext cx="5469255" cy="829945"/>
          </a:xfrm>
          <a:prstGeom prst="rect">
            <a:avLst/>
          </a:prstGeom>
          <a:noFill/>
        </p:spPr>
        <p:txBody>
          <a:bodyPr wrap="square" rtlCol="0">
            <a:spAutoFit/>
          </a:bodyPr>
          <a:p>
            <a:r>
              <a:rPr lang="zh-CN" altLang="en-US" sz="2400" b="1">
                <a:solidFill>
                  <a:schemeClr val="bg1"/>
                </a:solidFill>
                <a:latin typeface="方正小标宋简体" panose="03000509000000000000" charset="-122"/>
                <a:ea typeface="方正小标宋简体" panose="03000509000000000000" charset="-122"/>
              </a:rPr>
              <a:t>Yes, we can use our own computer as </a:t>
            </a:r>
            <a:r>
              <a:rPr lang="zh-CN" altLang="en-US" sz="2400" b="1">
                <a:solidFill>
                  <a:schemeClr val="bg1"/>
                </a:solidFill>
                <a:latin typeface="方正小标宋简体" panose="03000509000000000000" charset="-122"/>
                <a:ea typeface="方正小标宋简体" panose="03000509000000000000" charset="-122"/>
                <a:hlinkClick r:id="rId2"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an information relay station</a:t>
            </a:r>
            <a:r>
              <a:rPr lang="zh-CN" altLang="en-US" sz="2400" b="1">
                <a:solidFill>
                  <a:schemeClr val="bg1"/>
                </a:solidFill>
                <a:latin typeface="方正小标宋简体" panose="03000509000000000000" charset="-122"/>
                <a:ea typeface="方正小标宋简体" panose="03000509000000000000" charset="-122"/>
              </a:rPr>
              <a:t>.</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6" name="文本框 5"/>
          <p:cNvSpPr txBox="1"/>
          <p:nvPr/>
        </p:nvSpPr>
        <p:spPr>
          <a:xfrm>
            <a:off x="5139690" y="2851785"/>
            <a:ext cx="1951355"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How to do it?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4690745" y="3401695"/>
            <a:ext cx="2849245" cy="46037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Let's watch a </a:t>
            </a:r>
            <a:r>
              <a:rPr lang="en-US" altLang="zh-CN" sz="2400" b="1">
                <a:solidFill>
                  <a:schemeClr val="bg1"/>
                </a:solidFill>
                <a:latin typeface="方正小标宋简体" panose="03000509000000000000" charset="-122"/>
                <a:ea typeface="方正小标宋简体" panose="03000509000000000000" charset="-122"/>
                <a:hlinkClick r:id="rId3"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video</a:t>
            </a:r>
            <a:r>
              <a:rPr lang="en-US" altLang="zh-CN" sz="2400" b="1">
                <a:solidFill>
                  <a:schemeClr val="bg1"/>
                </a:solidFill>
                <a:latin typeface="方正小标宋简体" panose="03000509000000000000" charset="-122"/>
                <a:ea typeface="方正小标宋简体" panose="03000509000000000000" charset="-122"/>
              </a:rPr>
              <a:t>.</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8" name="文本框 7"/>
          <p:cNvSpPr txBox="1"/>
          <p:nvPr/>
        </p:nvSpPr>
        <p:spPr>
          <a:xfrm>
            <a:off x="3219450" y="3966845"/>
            <a:ext cx="5791835" cy="193802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I have completed the development of the </a:t>
            </a:r>
            <a:r>
              <a:rPr lang="en-US" altLang="zh-CN" sz="2400" b="1">
                <a:solidFill>
                  <a:schemeClr val="bg1"/>
                </a:solidFill>
                <a:latin typeface="方正小标宋简体" panose="03000509000000000000" charset="-122"/>
                <a:ea typeface="方正小标宋简体" panose="03000509000000000000" charset="-122"/>
                <a:hlinkClick r:id="rId4" action="ppaction://hlinkfile">
                  <a:extLst>
                    <a:ext uri="{DAF060AB-1E55-43B9-8AAB-6FB025537F2F}">
                      <wpsdc:hlinkClr xmlns:wpsdc="http://www.wps.cn/officeDocument/2017/drawingmlCustomData" val="FFFFFF"/>
                      <wpsdc:folHlinkClr xmlns:wpsdc="http://www.wps.cn/officeDocument/2017/drawingmlCustomData" val="FFFFFF"/>
                      <wpsdc:hlinkUnderline xmlns:wpsdc="http://www.wps.cn/officeDocument/2017/drawingmlCustomData" val="0"/>
                    </a:ext>
                  </a:extLst>
                </a:hlinkClick>
              </a:rPr>
              <a:t>remote control computer web version</a:t>
            </a:r>
            <a:r>
              <a:rPr lang="en-US" altLang="zh-CN" sz="2400" b="1">
                <a:solidFill>
                  <a:schemeClr val="bg1"/>
                </a:solidFill>
                <a:latin typeface="方正小标宋简体" panose="03000509000000000000" charset="-122"/>
                <a:ea typeface="方正小标宋简体" panose="03000509000000000000" charset="-122"/>
              </a:rPr>
              <a:t>, and everyone is welcome to try it out. This version of NFLSHC Chat is still being updated.</a:t>
            </a:r>
            <a:endParaRPr lang="en-US" altLang="zh-CN" sz="2400" b="1">
              <a:solidFill>
                <a:schemeClr val="bg1"/>
              </a:solidFill>
              <a:latin typeface="方正小标宋简体" panose="03000509000000000000" charset="-122"/>
              <a:ea typeface="方正小标宋简体" panose="03000509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6" grpId="0"/>
      <p:bldP spid="6" grpId="1"/>
      <p:bldP spid="7" grpId="0"/>
      <p:bldP spid="7" grpId="1"/>
      <p:bldP spid="8" grpId="0"/>
      <p:bldP spid="8" grpId="1"/>
    </p:bldLst>
  </p:timing>
</p:sld>
</file>

<file path=ppt/slides/slide13.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sp>
        <p:nvSpPr>
          <p:cNvPr id="32770" name="等腰三角形 16"/>
          <p:cNvSpPr>
            <a:spLocks noChangeArrowheads="1"/>
          </p:cNvSpPr>
          <p:nvPr/>
        </p:nvSpPr>
        <p:spPr bwMode="auto">
          <a:xfrm>
            <a:off x="1889125" y="4375150"/>
            <a:ext cx="2689225" cy="24828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1" name="文本框 19"/>
          <p:cNvSpPr>
            <a:spLocks noChangeArrowheads="1"/>
          </p:cNvSpPr>
          <p:nvPr/>
        </p:nvSpPr>
        <p:spPr bwMode="auto">
          <a:xfrm>
            <a:off x="6682740" y="3219768"/>
            <a:ext cx="305435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Other products</a:t>
            </a:r>
            <a:endParaRPr lang="en-US" altLang="zh-CN" sz="3600">
              <a:solidFill>
                <a:schemeClr val="bg1"/>
              </a:solidFill>
              <a:latin typeface="方正姚体简体" panose="03000509000000000000" pitchFamily="65" charset="-122"/>
              <a:sym typeface="方正姚体" panose="02010601030101010101" pitchFamily="2" charset="-122"/>
            </a:endParaRPr>
          </a:p>
        </p:txBody>
      </p:sp>
      <p:sp>
        <p:nvSpPr>
          <p:cNvPr id="32773" name="直接连接符 21"/>
          <p:cNvSpPr>
            <a:spLocks noChangeShapeType="1"/>
          </p:cNvSpPr>
          <p:nvPr/>
        </p:nvSpPr>
        <p:spPr bwMode="auto">
          <a:xfrm rot="5400000">
            <a:off x="8209757" y="1100931"/>
            <a:ext cx="0" cy="5903913"/>
          </a:xfrm>
          <a:prstGeom prst="line">
            <a:avLst/>
          </a:prstGeom>
          <a:noFill/>
          <a:ln w="12700">
            <a:solidFill>
              <a:srgbClr val="FFFFFF">
                <a:alpha val="50195"/>
              </a:srgb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32774" name="等腰三角形 24"/>
          <p:cNvSpPr>
            <a:spLocks noChangeArrowheads="1"/>
          </p:cNvSpPr>
          <p:nvPr/>
        </p:nvSpPr>
        <p:spPr bwMode="auto">
          <a:xfrm>
            <a:off x="2155825" y="4867275"/>
            <a:ext cx="2155825" cy="1990725"/>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5" name="等腰三角形 26"/>
          <p:cNvSpPr>
            <a:spLocks noChangeArrowheads="1"/>
          </p:cNvSpPr>
          <p:nvPr/>
        </p:nvSpPr>
        <p:spPr bwMode="auto">
          <a:xfrm flipV="1">
            <a:off x="868363" y="0"/>
            <a:ext cx="4738687" cy="4375150"/>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6" name="等腰三角形 28"/>
          <p:cNvSpPr>
            <a:spLocks noChangeArrowheads="1"/>
          </p:cNvSpPr>
          <p:nvPr/>
        </p:nvSpPr>
        <p:spPr bwMode="auto">
          <a:xfrm flipV="1">
            <a:off x="1177925" y="-19050"/>
            <a:ext cx="4140200" cy="382270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2777" name="文本框 29"/>
          <p:cNvSpPr>
            <a:spLocks noChangeArrowheads="1"/>
          </p:cNvSpPr>
          <p:nvPr/>
        </p:nvSpPr>
        <p:spPr bwMode="auto">
          <a:xfrm>
            <a:off x="2463800" y="428625"/>
            <a:ext cx="1751965" cy="1861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1500" b="1">
                <a:solidFill>
                  <a:srgbClr val="093255"/>
                </a:solidFill>
                <a:latin typeface="Impact" panose="020B0806030902050204" pitchFamily="34" charset="0"/>
                <a:sym typeface="Impact" panose="020B0806030902050204" pitchFamily="34" charset="0"/>
              </a:rPr>
              <a:t>05</a:t>
            </a:r>
            <a:endParaRPr lang="zh-CN" altLang="en-US" sz="11500" b="1">
              <a:solidFill>
                <a:srgbClr val="093255"/>
              </a:solidFill>
              <a:latin typeface="Impact" panose="020B0806030902050204" pitchFamily="34" charset="0"/>
              <a:sym typeface="Impact" panose="020B0806030902050204" pitchFamily="34" charset="0"/>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156835" y="251460"/>
            <a:ext cx="19786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Other products</a:t>
            </a:r>
            <a:endPar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831850"/>
            <a:ext cx="9236075"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Problem: </a:t>
            </a:r>
            <a:r>
              <a:rPr lang="zh-CN" altLang="en-US" sz="2400" b="1">
                <a:solidFill>
                  <a:schemeClr val="bg1"/>
                </a:solidFill>
                <a:latin typeface="方正小标宋简体" panose="03000509000000000000" charset="-122"/>
                <a:ea typeface="方正小标宋简体" panose="03000509000000000000" charset="-122"/>
              </a:rPr>
              <a:t>You copy a file path. Then copy a picture. The first copy is gone. Windows clipboard only keeps one thing. History panel (Win+V) needs manual selection, no queue.</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1208405" y="2030730"/>
            <a:ext cx="9876155" cy="156845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Solution: </a:t>
            </a:r>
            <a:r>
              <a:rPr lang="zh-CN" altLang="en-US" sz="2400" b="1">
                <a:solidFill>
                  <a:schemeClr val="bg1"/>
                </a:solidFill>
                <a:latin typeface="方正小标宋简体" panose="03000509000000000000" charset="-122"/>
                <a:ea typeface="方正小标宋简体" panose="03000509000000000000" charset="-122"/>
              </a:rPr>
              <a:t>Press Ctrl+</a:t>
            </a:r>
            <a:r>
              <a:rPr lang="en-US" altLang="zh-CN" sz="2400" b="1">
                <a:solidFill>
                  <a:schemeClr val="bg1"/>
                </a:solidFill>
                <a:latin typeface="方正小标宋简体" panose="03000509000000000000" charset="-122"/>
                <a:ea typeface="方正小标宋简体" panose="03000509000000000000" charset="-122"/>
              </a:rPr>
              <a:t>Alt</a:t>
            </a:r>
            <a:r>
              <a:rPr lang="zh-CN" altLang="en-US" sz="2400" b="1">
                <a:solidFill>
                  <a:schemeClr val="bg1"/>
                </a:solidFill>
                <a:latin typeface="方正小标宋简体" panose="03000509000000000000" charset="-122"/>
                <a:ea typeface="方正小标宋简体" panose="03000509000000000000" charset="-122"/>
              </a:rPr>
              <a:t>+C → add to queue.</a:t>
            </a:r>
            <a:endParaRPr lang="zh-CN" altLang="en-US" sz="2400" b="1">
              <a:solidFill>
                <a:schemeClr val="bg1"/>
              </a:solidFill>
              <a:latin typeface="方正小标宋简体" panose="03000509000000000000" charset="-122"/>
              <a:ea typeface="方正小标宋简体" panose="03000509000000000000" charset="-122"/>
            </a:endParaRPr>
          </a:p>
          <a:p>
            <a:r>
              <a:rPr lang="zh-CN" altLang="en-US" sz="2400" b="1">
                <a:solidFill>
                  <a:schemeClr val="bg1"/>
                </a:solidFill>
                <a:latin typeface="方正小标宋简体" panose="03000509000000000000" charset="-122"/>
                <a:ea typeface="方正小标宋简体" panose="03000509000000000000" charset="-122"/>
              </a:rPr>
              <a:t>Press Ctrl+</a:t>
            </a:r>
            <a:r>
              <a:rPr lang="en-US" altLang="zh-CN" sz="2400" b="1">
                <a:solidFill>
                  <a:schemeClr val="bg1"/>
                </a:solidFill>
                <a:latin typeface="方正小标宋简体" panose="03000509000000000000" charset="-122"/>
                <a:ea typeface="方正小标宋简体" panose="03000509000000000000" charset="-122"/>
              </a:rPr>
              <a:t>Al</a:t>
            </a:r>
            <a:r>
              <a:rPr lang="zh-CN" altLang="en-US" sz="2400" b="1">
                <a:solidFill>
                  <a:schemeClr val="bg1"/>
                </a:solidFill>
                <a:latin typeface="方正小标宋简体" panose="03000509000000000000" charset="-122"/>
                <a:ea typeface="方正小标宋简体" panose="03000509000000000000" charset="-122"/>
              </a:rPr>
              <a:t>t+V → paste the oldest one and remove it.</a:t>
            </a:r>
            <a:endParaRPr lang="zh-CN" altLang="en-US" sz="2400" b="1">
              <a:solidFill>
                <a:schemeClr val="bg1"/>
              </a:solidFill>
              <a:latin typeface="方正小标宋简体" panose="03000509000000000000" charset="-122"/>
              <a:ea typeface="方正小标宋简体" panose="03000509000000000000" charset="-122"/>
            </a:endParaRPr>
          </a:p>
          <a:p>
            <a:r>
              <a:rPr lang="zh-CN" altLang="en-US" sz="2400" b="1">
                <a:solidFill>
                  <a:schemeClr val="bg1"/>
                </a:solidFill>
                <a:latin typeface="方正小标宋简体" panose="03000509000000000000" charset="-122"/>
                <a:ea typeface="方正小标宋简体" panose="03000509000000000000" charset="-122"/>
              </a:rPr>
              <a:t>It's like a to</a:t>
            </a:r>
            <a:r>
              <a:rPr lang="en-US" altLang="zh-CN" sz="2400" b="1">
                <a:solidFill>
                  <a:schemeClr val="bg1"/>
                </a:solidFill>
                <a:latin typeface="方正小标宋简体" panose="03000509000000000000" charset="-122"/>
                <a:ea typeface="方正小标宋简体" panose="03000509000000000000" charset="-122"/>
              </a:rPr>
              <a:t>-</a:t>
            </a:r>
            <a:r>
              <a:rPr lang="zh-CN" altLang="en-US" sz="2400" b="1">
                <a:solidFill>
                  <a:schemeClr val="bg1"/>
                </a:solidFill>
                <a:latin typeface="方正小标宋简体" panose="03000509000000000000" charset="-122"/>
                <a:ea typeface="方正小标宋简体" panose="03000509000000000000" charset="-122"/>
              </a:rPr>
              <a:t>paste list. Copy three things, paste them one by one in order.</a:t>
            </a:r>
            <a:endParaRPr lang="zh-CN" altLang="en-US" sz="2400" b="1">
              <a:solidFill>
                <a:schemeClr val="bg1"/>
              </a:solidFill>
              <a:latin typeface="方正小标宋简体" panose="03000509000000000000" charset="-122"/>
              <a:ea typeface="方正小标宋简体" panose="03000509000000000000" charset="-122"/>
            </a:endParaRPr>
          </a:p>
          <a:p>
            <a:r>
              <a:rPr lang="zh-CN" altLang="en-US" sz="2400" b="1">
                <a:solidFill>
                  <a:schemeClr val="bg1"/>
                </a:solidFill>
                <a:latin typeface="方正小标宋简体" panose="03000509000000000000" charset="-122"/>
                <a:ea typeface="方正小标宋简体" panose="03000509000000000000" charset="-122"/>
              </a:rPr>
              <a:t>Tray icon shows how many items are waiting.</a:t>
            </a:r>
            <a:r>
              <a:rPr lang="en-US" altLang="zh-CN" sz="2400" b="1">
                <a:solidFill>
                  <a:schemeClr val="bg1"/>
                </a:solidFill>
                <a:latin typeface="方正小标宋简体" panose="03000509000000000000" charset="-122"/>
                <a:ea typeface="方正小标宋简体" panose="03000509000000000000" charset="-122"/>
              </a:rPr>
              <a:t> That's ClipboardQueue.</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6" name="文本框 5"/>
          <p:cNvSpPr txBox="1"/>
          <p:nvPr/>
        </p:nvSpPr>
        <p:spPr>
          <a:xfrm>
            <a:off x="1840865" y="3605530"/>
            <a:ext cx="8611235" cy="82994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sym typeface="+mn-ea"/>
              </a:rPr>
              <a:t>Problem: </a:t>
            </a:r>
            <a:r>
              <a:rPr lang="en-US" altLang="zh-CN" sz="2400" b="1">
                <a:solidFill>
                  <a:schemeClr val="bg1"/>
                </a:solidFill>
                <a:latin typeface="方正小标宋简体" panose="03000509000000000000" charset="-122"/>
                <a:ea typeface="方正小标宋简体" panose="03000509000000000000" charset="-122"/>
              </a:rPr>
              <a:t>You lock your phone or computer, but you can always unlock it early. A timer is too easy to break.</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1582420" y="4438015"/>
            <a:ext cx="8679815" cy="156845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sym typeface="+mn-ea"/>
              </a:rPr>
              <a:t>Solution: </a:t>
            </a:r>
            <a:r>
              <a:rPr lang="en-US" altLang="zh-CN" sz="2400" b="1">
                <a:solidFill>
                  <a:schemeClr val="bg1"/>
                </a:solidFill>
                <a:latin typeface="方正小标宋简体" panose="03000509000000000000" charset="-122"/>
                <a:ea typeface="方正小标宋简体" panose="03000509000000000000" charset="-122"/>
              </a:rPr>
              <a:t>You set a real task, like "run my code test" or "write 200 words". Then you lock your computer. The lock only opens when you finish the task. If you give up, you wait a long time. No cheating.</a:t>
            </a:r>
            <a:r>
              <a:rPr lang="en-US" altLang="zh-CN" sz="2400" b="1">
                <a:solidFill>
                  <a:schemeClr val="bg1"/>
                </a:solidFill>
                <a:latin typeface="方正小标宋简体" panose="03000509000000000000" charset="-122"/>
                <a:ea typeface="方正小标宋简体" panose="03000509000000000000" charset="-122"/>
                <a:sym typeface="+mn-ea"/>
              </a:rPr>
              <a:t> That's ProcrastinationTrap.</a:t>
            </a:r>
            <a:endParaRPr lang="en-US" altLang="zh-CN" sz="2400" b="1">
              <a:solidFill>
                <a:schemeClr val="bg1"/>
              </a:solidFill>
              <a:latin typeface="方正小标宋简体" panose="03000509000000000000" charset="-122"/>
              <a:ea typeface="方正小标宋简体" panose="03000509000000000000"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6" grpId="0"/>
      <p:bldP spid="6" grpId="1"/>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156835" y="251460"/>
            <a:ext cx="19786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Other products</a:t>
            </a:r>
            <a:endPar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95250" y="897890"/>
            <a:ext cx="11958320" cy="829945"/>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Problem: </a:t>
            </a:r>
            <a:r>
              <a:rPr lang="zh-CN" altLang="en-US" sz="2400" b="1">
                <a:solidFill>
                  <a:schemeClr val="bg1"/>
                </a:solidFill>
                <a:latin typeface="方正小标宋简体" panose="03000509000000000000" charset="-122"/>
                <a:ea typeface="方正小标宋简体" panose="03000509000000000000" charset="-122"/>
              </a:rPr>
              <a:t>You buy three kinds of apples. Each has a price tag, but the tag only shows total price, not price per item. At home, you can't remember which apple cost how much.</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4" name="文本框 3"/>
          <p:cNvSpPr txBox="1"/>
          <p:nvPr/>
        </p:nvSpPr>
        <p:spPr>
          <a:xfrm>
            <a:off x="579120" y="1685290"/>
            <a:ext cx="11133455" cy="156845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Solution: </a:t>
            </a:r>
            <a:r>
              <a:rPr lang="zh-CN" altLang="en-US" sz="2400" b="1">
                <a:solidFill>
                  <a:schemeClr val="bg1"/>
                </a:solidFill>
                <a:latin typeface="方正小标宋简体" panose="03000509000000000000" charset="-122"/>
                <a:ea typeface="方正小标宋简体" panose="03000509000000000000" charset="-122"/>
              </a:rPr>
              <a:t>Take one photo of all fruit. The app finds every tag, reads the price and name, then asks how many apples you bought. It calculates the price per apple. One line of text comes out: "Red apple: 3 pieces, total $12.50, each $4.17". No more guessing.</a:t>
            </a:r>
            <a:r>
              <a:rPr lang="en-US" altLang="zh-CN" sz="2400" b="1">
                <a:solidFill>
                  <a:schemeClr val="bg1"/>
                </a:solidFill>
                <a:latin typeface="方正小标宋简体" panose="03000509000000000000" charset="-122"/>
                <a:ea typeface="方正小标宋简体" panose="03000509000000000000" charset="-122"/>
              </a:rPr>
              <a:t> That's PriceSnap.</a:t>
            </a:r>
            <a:endParaRPr lang="en-US" altLang="zh-CN" sz="2400" b="1">
              <a:solidFill>
                <a:schemeClr val="bg1"/>
              </a:solidFill>
              <a:latin typeface="方正小标宋简体" panose="03000509000000000000" charset="-122"/>
              <a:ea typeface="方正小标宋简体" panose="03000509000000000000" charset="-122"/>
            </a:endParaRPr>
          </a:p>
        </p:txBody>
      </p:sp>
      <p:sp>
        <p:nvSpPr>
          <p:cNvPr id="5" name="文本框 4"/>
          <p:cNvSpPr txBox="1"/>
          <p:nvPr/>
        </p:nvSpPr>
        <p:spPr>
          <a:xfrm>
            <a:off x="167005" y="3143250"/>
            <a:ext cx="11886565" cy="119888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Problem: </a:t>
            </a:r>
            <a:r>
              <a:rPr lang="zh-CN" altLang="en-US" sz="2400" b="1">
                <a:solidFill>
                  <a:schemeClr val="bg1"/>
                </a:solidFill>
                <a:latin typeface="方正小标宋简体" panose="03000509000000000000" charset="-122"/>
                <a:ea typeface="方正小标宋简体" panose="03000509000000000000" charset="-122"/>
              </a:rPr>
              <a:t>Screenshots only give you a picture. If you want colors or text from the picture, you need other tools. Pick one color? Use a color picker. Get text? Use an OCR tool. Too many steps.</a:t>
            </a:r>
            <a:endParaRPr lang="zh-CN" altLang="en-US" sz="2400" b="1">
              <a:solidFill>
                <a:schemeClr val="bg1"/>
              </a:solidFill>
              <a:latin typeface="方正小标宋简体" panose="03000509000000000000" charset="-122"/>
              <a:ea typeface="方正小标宋简体" panose="03000509000000000000" charset="-122"/>
            </a:endParaRPr>
          </a:p>
        </p:txBody>
      </p:sp>
      <p:sp>
        <p:nvSpPr>
          <p:cNvPr id="7" name="文本框 6"/>
          <p:cNvSpPr txBox="1"/>
          <p:nvPr/>
        </p:nvSpPr>
        <p:spPr>
          <a:xfrm>
            <a:off x="483870" y="4218940"/>
            <a:ext cx="11325225" cy="193802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Solution: </a:t>
            </a:r>
            <a:r>
              <a:rPr lang="zh-CN" altLang="en-US" sz="2400" b="1">
                <a:solidFill>
                  <a:schemeClr val="bg1"/>
                </a:solidFill>
                <a:latin typeface="方正小标宋简体" panose="03000509000000000000" charset="-122"/>
                <a:ea typeface="方正小标宋简体" panose="03000509000000000000" charset="-122"/>
              </a:rPr>
              <a:t>Press Ctrl+</a:t>
            </a:r>
            <a:r>
              <a:rPr lang="en-US" altLang="zh-CN" sz="2400" b="1">
                <a:solidFill>
                  <a:schemeClr val="bg1"/>
                </a:solidFill>
                <a:latin typeface="方正小标宋简体" panose="03000509000000000000" charset="-122"/>
                <a:ea typeface="方正小标宋简体" panose="03000509000000000000" charset="-122"/>
              </a:rPr>
              <a:t>Al</a:t>
            </a:r>
            <a:r>
              <a:rPr lang="zh-CN" altLang="en-US" sz="2400" b="1">
                <a:solidFill>
                  <a:schemeClr val="bg1"/>
                </a:solidFill>
                <a:latin typeface="方正小标宋简体" panose="03000509000000000000" charset="-122"/>
                <a:ea typeface="方正小标宋简体" panose="03000509000000000000" charset="-122"/>
              </a:rPr>
              <a:t>t+X, then drag a box on screen. One box does three things:</a:t>
            </a:r>
            <a:endParaRPr lang="zh-CN" altLang="en-US" sz="2400" b="1">
              <a:solidFill>
                <a:schemeClr val="bg1"/>
              </a:solidFill>
              <a:latin typeface="方正小标宋简体" panose="03000509000000000000" charset="-122"/>
              <a:ea typeface="方正小标宋简体" panose="03000509000000000000" charset="-122"/>
            </a:endParaRPr>
          </a:p>
          <a:p>
            <a:r>
              <a:rPr lang="en-US" altLang="zh-CN" sz="2400" b="1">
                <a:solidFill>
                  <a:schemeClr val="bg1"/>
                </a:solidFill>
                <a:latin typeface="方正小标宋简体" panose="03000509000000000000" charset="-122"/>
                <a:ea typeface="方正小标宋简体" panose="03000509000000000000" charset="-122"/>
              </a:rPr>
              <a:t>1. </a:t>
            </a:r>
            <a:r>
              <a:rPr lang="zh-CN" altLang="en-US" sz="2400" b="1">
                <a:solidFill>
                  <a:schemeClr val="bg1"/>
                </a:solidFill>
                <a:latin typeface="方正小标宋简体" panose="03000509000000000000" charset="-122"/>
                <a:ea typeface="方正小标宋简体" panose="03000509000000000000" charset="-122"/>
              </a:rPr>
              <a:t>Screenshot goes to clipboard</a:t>
            </a:r>
            <a:r>
              <a:rPr lang="en-US" altLang="zh-CN" sz="2400" b="1">
                <a:solidFill>
                  <a:schemeClr val="bg1"/>
                </a:solidFill>
                <a:latin typeface="方正小标宋简体" panose="03000509000000000000" charset="-122"/>
                <a:ea typeface="方正小标宋简体" panose="03000509000000000000" charset="-122"/>
              </a:rPr>
              <a:t>.</a:t>
            </a:r>
            <a:endParaRPr lang="zh-CN" altLang="en-US" sz="2400" b="1">
              <a:solidFill>
                <a:schemeClr val="bg1"/>
              </a:solidFill>
              <a:latin typeface="方正小标宋简体" panose="03000509000000000000" charset="-122"/>
              <a:ea typeface="方正小标宋简体" panose="03000509000000000000" charset="-122"/>
            </a:endParaRPr>
          </a:p>
          <a:p>
            <a:r>
              <a:rPr lang="en-US" altLang="zh-CN" sz="2400" b="1">
                <a:solidFill>
                  <a:schemeClr val="bg1"/>
                </a:solidFill>
                <a:latin typeface="方正小标宋简体" panose="03000509000000000000" charset="-122"/>
                <a:ea typeface="方正小标宋简体" panose="03000509000000000000" charset="-122"/>
              </a:rPr>
              <a:t>2. </a:t>
            </a:r>
            <a:r>
              <a:rPr lang="zh-CN" altLang="en-US" sz="2400" b="1">
                <a:solidFill>
                  <a:schemeClr val="bg1"/>
                </a:solidFill>
                <a:latin typeface="方正小标宋简体" panose="03000509000000000000" charset="-122"/>
                <a:ea typeface="方正小标宋简体" panose="03000509000000000000" charset="-122"/>
              </a:rPr>
              <a:t>All main colors in the box → show color blocks, click to copy HEX code</a:t>
            </a:r>
            <a:r>
              <a:rPr lang="en-US" altLang="zh-CN" sz="2400" b="1">
                <a:solidFill>
                  <a:schemeClr val="bg1"/>
                </a:solidFill>
                <a:latin typeface="方正小标宋简体" panose="03000509000000000000" charset="-122"/>
                <a:ea typeface="方正小标宋简体" panose="03000509000000000000" charset="-122"/>
              </a:rPr>
              <a:t>.</a:t>
            </a:r>
            <a:endParaRPr lang="zh-CN" altLang="en-US" sz="2400" b="1">
              <a:solidFill>
                <a:schemeClr val="bg1"/>
              </a:solidFill>
              <a:latin typeface="方正小标宋简体" panose="03000509000000000000" charset="-122"/>
              <a:ea typeface="方正小标宋简体" panose="03000509000000000000" charset="-122"/>
            </a:endParaRPr>
          </a:p>
          <a:p>
            <a:r>
              <a:rPr lang="en-US" altLang="zh-CN" sz="2400" b="1">
                <a:solidFill>
                  <a:schemeClr val="bg1"/>
                </a:solidFill>
                <a:latin typeface="方正小标宋简体" panose="03000509000000000000" charset="-122"/>
                <a:ea typeface="方正小标宋简体" panose="03000509000000000000" charset="-122"/>
              </a:rPr>
              <a:t>3. </a:t>
            </a:r>
            <a:r>
              <a:rPr lang="zh-CN" altLang="en-US" sz="2400" b="1">
                <a:solidFill>
                  <a:schemeClr val="bg1"/>
                </a:solidFill>
                <a:latin typeface="方正小标宋简体" panose="03000509000000000000" charset="-122"/>
                <a:ea typeface="方正小标宋简体" panose="03000509000000000000" charset="-122"/>
              </a:rPr>
              <a:t>All text in the box → OCR reads it, keeps line breaks and spaces, one click to copy</a:t>
            </a:r>
            <a:r>
              <a:rPr lang="en-US" altLang="zh-CN" sz="2400" b="1">
                <a:solidFill>
                  <a:schemeClr val="bg1"/>
                </a:solidFill>
                <a:latin typeface="方正小标宋简体" panose="03000509000000000000" charset="-122"/>
                <a:ea typeface="方正小标宋简体" panose="03000509000000000000" charset="-122"/>
              </a:rPr>
              <a:t>.</a:t>
            </a:r>
            <a:endParaRPr lang="zh-CN" altLang="en-US" sz="2400" b="1">
              <a:solidFill>
                <a:schemeClr val="bg1"/>
              </a:solidFill>
              <a:latin typeface="方正小标宋简体" panose="03000509000000000000" charset="-122"/>
              <a:ea typeface="方正小标宋简体" panose="03000509000000000000" charset="-122"/>
            </a:endParaRPr>
          </a:p>
          <a:p>
            <a:r>
              <a:rPr lang="zh-CN" altLang="en-US" sz="2400" b="1">
                <a:solidFill>
                  <a:schemeClr val="bg1"/>
                </a:solidFill>
                <a:latin typeface="方正小标宋简体" panose="03000509000000000000" charset="-122"/>
                <a:ea typeface="方正小标宋简体" panose="03000509000000000000" charset="-122"/>
              </a:rPr>
              <a:t>No second tool. No save file first. Just one box, get everything.</a:t>
            </a:r>
            <a:r>
              <a:rPr lang="en-US" altLang="zh-CN" sz="2400" b="1">
                <a:solidFill>
                  <a:schemeClr val="bg1"/>
                </a:solidFill>
                <a:latin typeface="方正小标宋简体" panose="03000509000000000000" charset="-122"/>
                <a:ea typeface="方正小标宋简体" panose="03000509000000000000" charset="-122"/>
              </a:rPr>
              <a:t> That's ScreenTool.</a:t>
            </a:r>
            <a:endParaRPr lang="en-US" altLang="zh-CN" sz="2400" b="1">
              <a:solidFill>
                <a:schemeClr val="bg1"/>
              </a:solidFill>
              <a:latin typeface="方正小标宋简体" panose="03000509000000000000" charset="-122"/>
              <a:ea typeface="方正小标宋简体" panose="03000509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P spid="7" grpId="0"/>
      <p:bldP spid="7" grpId="1"/>
    </p:bldLst>
  </p:timing>
</p:sld>
</file>

<file path=ppt/slides/slide16.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19458" name="组合 1"/>
          <p:cNvGrpSpPr/>
          <p:nvPr/>
        </p:nvGrpSpPr>
        <p:grpSpPr bwMode="auto">
          <a:xfrm>
            <a:off x="8674100" y="92075"/>
            <a:ext cx="3630613" cy="920750"/>
            <a:chOff x="0" y="0"/>
            <a:chExt cx="3965717" cy="921247"/>
          </a:xfrm>
        </p:grpSpPr>
        <p:sp>
          <p:nvSpPr>
            <p:cNvPr id="19501"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2"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19459" name="文本框 4"/>
          <p:cNvSpPr>
            <a:spLocks noChangeArrowheads="1"/>
          </p:cNvSpPr>
          <p:nvPr/>
        </p:nvSpPr>
        <p:spPr bwMode="auto">
          <a:xfrm>
            <a:off x="5156835" y="251460"/>
            <a:ext cx="19786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rPr>
              <a:t>Other products</a:t>
            </a:r>
            <a:endParaRPr lang="en-US" altLang="zh-CN" sz="2000" b="1">
              <a:solidFill>
                <a:schemeClr val="bg1"/>
              </a:solidFill>
              <a:latin typeface="方正姚体简体" panose="03000509000000000000" pitchFamily="65" charset="-122"/>
              <a:ea typeface="方正姚体简体" panose="03000509000000000000" pitchFamily="65" charset="-122"/>
              <a:sym typeface="方正姚体" panose="02010601030101010101" pitchFamily="2" charset="-122"/>
            </a:endParaRPr>
          </a:p>
        </p:txBody>
      </p:sp>
      <p:grpSp>
        <p:nvGrpSpPr>
          <p:cNvPr id="19460" name="组合 5"/>
          <p:cNvGrpSpPr/>
          <p:nvPr/>
        </p:nvGrpSpPr>
        <p:grpSpPr bwMode="auto">
          <a:xfrm flipH="1">
            <a:off x="-12700" y="92075"/>
            <a:ext cx="3630613" cy="920750"/>
            <a:chOff x="0" y="0"/>
            <a:chExt cx="3965717" cy="921247"/>
          </a:xfrm>
        </p:grpSpPr>
        <p:sp>
          <p:nvSpPr>
            <p:cNvPr id="19499"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19500"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478280" y="2816225"/>
            <a:ext cx="9236075" cy="829945"/>
          </a:xfrm>
          <a:prstGeom prst="rect">
            <a:avLst/>
          </a:prstGeom>
          <a:noFill/>
        </p:spPr>
        <p:txBody>
          <a:bodyPr wrap="square" rtlCol="0">
            <a:spAutoFit/>
          </a:bodyPr>
          <a:p>
            <a:r>
              <a:rPr sz="2400" b="1">
                <a:solidFill>
                  <a:schemeClr val="bg1"/>
                </a:solidFill>
                <a:latin typeface="方正小标宋简体" panose="03000509000000000000" charset="-122"/>
                <a:ea typeface="方正小标宋简体" panose="03000509000000000000" charset="-122"/>
              </a:rPr>
              <a:t>You can download all the software mentioned above for free from the NFLSHC Chat-notice.</a:t>
            </a:r>
            <a:endParaRPr sz="2400" b="1">
              <a:solidFill>
                <a:schemeClr val="bg1"/>
              </a:solidFill>
              <a:latin typeface="方正小标宋简体" panose="03000509000000000000" charset="-122"/>
              <a:ea typeface="方正小标宋简体" panose="03000509000000000000" charset="-122"/>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
        <p:nvSpPr>
          <p:cNvPr id="6" name="文本框 5"/>
          <p:cNvSpPr txBox="1"/>
          <p:nvPr/>
        </p:nvSpPr>
        <p:spPr>
          <a:xfrm>
            <a:off x="1790065" y="878205"/>
            <a:ext cx="8611235" cy="1938020"/>
          </a:xfrm>
          <a:prstGeom prst="rect">
            <a:avLst/>
          </a:prstGeom>
          <a:noFill/>
        </p:spPr>
        <p:txBody>
          <a:bodyPr wrap="square" rtlCol="0">
            <a:spAutoFit/>
          </a:bodyPr>
          <a:p>
            <a:r>
              <a:rPr lang="en-US" altLang="zh-CN" sz="2400" b="1">
                <a:solidFill>
                  <a:schemeClr val="bg1"/>
                </a:solidFill>
                <a:latin typeface="方正小标宋简体" panose="03000509000000000000" charset="-122"/>
                <a:ea typeface="方正小标宋简体" panose="03000509000000000000" charset="-122"/>
              </a:rPr>
              <a:t>You see, there are actually many problems in life that need to be solved. We need to have eyes that can notice problems and think about how to solve them. In this way, our lives will be more full of challenges and fun (even if the code is not written by you personally).</a:t>
            </a:r>
            <a:endParaRPr lang="en-US" altLang="zh-CN" sz="2400" b="1">
              <a:solidFill>
                <a:schemeClr val="bg1"/>
              </a:solidFill>
              <a:latin typeface="方正小标宋简体" panose="03000509000000000000" charset="-122"/>
              <a:ea typeface="方正小标宋简体" panose="03000509000000000000" charset="-122"/>
            </a:endParaRPr>
          </a:p>
        </p:txBody>
      </p:sp>
      <p:pic>
        <p:nvPicPr>
          <p:cNvPr id="7" name="图片 6" descr="pic">
            <a:hlinkClick r:id="rId2" tooltip="" action="ppaction://hlinkfile"/>
          </p:cNvPr>
          <p:cNvPicPr>
            <a:picLocks noChangeAspect="1"/>
          </p:cNvPicPr>
          <p:nvPr/>
        </p:nvPicPr>
        <p:blipFill>
          <a:blip r:embed="rId3"/>
          <a:stretch>
            <a:fillRect/>
          </a:stretch>
        </p:blipFill>
        <p:spPr>
          <a:xfrm>
            <a:off x="2447925" y="3646170"/>
            <a:ext cx="7396480" cy="23634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p:bldP spid="6" grpId="1"/>
    </p:bldLst>
  </p:timing>
</p:sld>
</file>

<file path=ppt/slides/slide17.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1"/>
          <a:srcRect/>
          <a:stretch>
            <a:fillRect/>
          </a:stretch>
        </a:blipFill>
        <a:effectLst/>
      </p:bgPr>
    </p:bg>
    <p:spTree>
      <p:nvGrpSpPr>
        <p:cNvPr id="1" name=""/>
        <p:cNvGrpSpPr/>
        <p:nvPr/>
      </p:nvGrpSpPr>
      <p:grpSpPr>
        <a:xfrm>
          <a:off x="0" y="0"/>
          <a:ext cx="0" cy="0"/>
          <a:chOff x="0" y="0"/>
          <a:chExt cx="0" cy="0"/>
        </a:xfrm>
      </p:grpSpPr>
      <p:grpSp>
        <p:nvGrpSpPr>
          <p:cNvPr id="37890" name="组合 1"/>
          <p:cNvGrpSpPr/>
          <p:nvPr/>
        </p:nvGrpSpPr>
        <p:grpSpPr bwMode="auto">
          <a:xfrm>
            <a:off x="8674100" y="92075"/>
            <a:ext cx="3630613" cy="920750"/>
            <a:chOff x="0" y="0"/>
            <a:chExt cx="3965717" cy="921247"/>
          </a:xfrm>
        </p:grpSpPr>
        <p:sp>
          <p:nvSpPr>
            <p:cNvPr id="37930" name="等腰三角形 2"/>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7931" name="等腰三角形 3"/>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37891" name="文本框 4"/>
          <p:cNvSpPr>
            <a:spLocks noChangeArrowheads="1"/>
          </p:cNvSpPr>
          <p:nvPr/>
        </p:nvSpPr>
        <p:spPr bwMode="auto">
          <a:xfrm>
            <a:off x="4070350" y="247650"/>
            <a:ext cx="413321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l" eaLnBrk="1" hangingPunct="1">
              <a:lnSpc>
                <a:spcPct val="100000"/>
              </a:lnSpc>
              <a:spcBef>
                <a:spcPct val="0"/>
              </a:spcBef>
              <a:buFont typeface="Arial" panose="020B0604020202020204" pitchFamily="34" charset="0"/>
              <a:buNone/>
            </a:pPr>
            <a:r>
              <a:rPr lang="en-US" altLang="zh-CN" sz="3200" b="1" dirty="0" smtClean="0">
                <a:solidFill>
                  <a:schemeClr val="bg1"/>
                </a:solidFill>
                <a:latin typeface="Impact" panose="020B0806030902050204" pitchFamily="34" charset="0"/>
                <a:sym typeface="Impact" panose="020B0806030902050204" pitchFamily="34" charset="0"/>
              </a:rPr>
              <a:t>Be a Website Developer</a:t>
            </a:r>
            <a:endParaRPr lang="en-US" altLang="zh-CN" sz="2000" b="1">
              <a:solidFill>
                <a:schemeClr val="bg1"/>
              </a:solidFill>
              <a:latin typeface="方正姚体简体" panose="03000509000000000000" pitchFamily="65" charset="-122"/>
              <a:sym typeface="方正姚体" panose="02010601030101010101" pitchFamily="2" charset="-122"/>
            </a:endParaRPr>
          </a:p>
        </p:txBody>
      </p:sp>
      <p:grpSp>
        <p:nvGrpSpPr>
          <p:cNvPr id="37892" name="组合 5"/>
          <p:cNvGrpSpPr/>
          <p:nvPr/>
        </p:nvGrpSpPr>
        <p:grpSpPr bwMode="auto">
          <a:xfrm flipH="1">
            <a:off x="-12700" y="92075"/>
            <a:ext cx="3630613" cy="920750"/>
            <a:chOff x="0" y="0"/>
            <a:chExt cx="3965717" cy="921247"/>
          </a:xfrm>
        </p:grpSpPr>
        <p:sp>
          <p:nvSpPr>
            <p:cNvPr id="37928" name="等腰三角形 6"/>
            <p:cNvSpPr>
              <a:spLocks noChangeArrowheads="1"/>
            </p:cNvSpPr>
            <p:nvPr/>
          </p:nvSpPr>
          <p:spPr bwMode="auto">
            <a:xfrm rot="5400000" flipV="1">
              <a:off x="1522235" y="-1522235"/>
              <a:ext cx="921247" cy="3965717"/>
            </a:xfrm>
            <a:prstGeom prst="triangle">
              <a:avLst>
                <a:gd name="adj" fmla="val 50000"/>
              </a:avLst>
            </a:prstGeom>
            <a:solidFill>
              <a:srgbClr val="FFFFFF">
                <a:alpha val="20000"/>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sp>
          <p:nvSpPr>
            <p:cNvPr id="37929" name="等腰三角形 7"/>
            <p:cNvSpPr>
              <a:spLocks noChangeArrowheads="1"/>
            </p:cNvSpPr>
            <p:nvPr/>
          </p:nvSpPr>
          <p:spPr bwMode="auto">
            <a:xfrm rot="5400000" flipV="1">
              <a:off x="2356721" y="-836346"/>
              <a:ext cx="602579" cy="2593940"/>
            </a:xfrm>
            <a:prstGeom prst="triangle">
              <a:avLst>
                <a:gd name="adj" fmla="val 50000"/>
              </a:avLst>
            </a:prstGeom>
            <a:solidFill>
              <a:srgbClr val="FFFFFF">
                <a:alpha val="39999"/>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endParaRPr lang="zh-CN" altLang="zh-CN" sz="1800">
                <a:solidFill>
                  <a:srgbClr val="FFFFFF"/>
                </a:solidFill>
                <a:latin typeface="宋体" panose="02010600030101010101" pitchFamily="2" charset="-122"/>
                <a:sym typeface="宋体" panose="02010600030101010101" pitchFamily="2" charset="-122"/>
              </a:endParaRPr>
            </a:p>
          </p:txBody>
        </p:sp>
      </p:grpSp>
      <p:sp>
        <p:nvSpPr>
          <p:cNvPr id="2" name="文本框 1"/>
          <p:cNvSpPr txBox="1"/>
          <p:nvPr/>
        </p:nvSpPr>
        <p:spPr>
          <a:xfrm>
            <a:off x="1639570" y="2321560"/>
            <a:ext cx="8912860" cy="2214880"/>
          </a:xfrm>
          <a:prstGeom prst="rect">
            <a:avLst/>
          </a:prstGeom>
          <a:noFill/>
        </p:spPr>
        <p:txBody>
          <a:bodyPr wrap="square" rtlCol="0">
            <a:spAutoFit/>
          </a:bodyPr>
          <a:p>
            <a:r>
              <a:rPr lang="en-US" altLang="zh-CN" sz="13800">
                <a:solidFill>
                  <a:schemeClr val="bg1"/>
                </a:solidFill>
                <a:latin typeface="Cambria Math" panose="02040503050406030204" charset="0"/>
                <a:cs typeface="Cambria Math" panose="02040503050406030204" charset="0"/>
              </a:rPr>
              <a:t>Thank you.</a:t>
            </a:r>
            <a:endParaRPr lang="en-US" altLang="zh-CN" sz="13800">
              <a:solidFill>
                <a:schemeClr val="bg1"/>
              </a:solidFill>
              <a:latin typeface="Cambria Math" panose="02040503050406030204" charset="0"/>
              <a:cs typeface="Cambria Math" panose="02040503050406030204" charset="0"/>
            </a:endParaRPr>
          </a:p>
        </p:txBody>
      </p:sp>
      <p:sp>
        <p:nvSpPr>
          <p:cNvPr id="3" name="文本框 2"/>
          <p:cNvSpPr txBox="1"/>
          <p:nvPr/>
        </p:nvSpPr>
        <p:spPr>
          <a:xfrm>
            <a:off x="1582420" y="6009640"/>
            <a:ext cx="8995410" cy="645160"/>
          </a:xfrm>
          <a:prstGeom prst="rect">
            <a:avLst/>
          </a:prstGeom>
          <a:noFill/>
        </p:spPr>
        <p:txBody>
          <a:bodyPr wrap="square" rtlCol="0">
            <a:spAutoFit/>
          </a:bodyPr>
          <a:p>
            <a:r>
              <a:rPr lang="zh-CN" altLang="en-US">
                <a:solidFill>
                  <a:schemeClr val="bg1"/>
                </a:solidFill>
                <a:latin typeface="方正楷体简体" panose="03000509000000000000" charset="-122"/>
                <a:ea typeface="方正楷体简体" panose="03000509000000000000" charset="-122"/>
              </a:rPr>
              <a:t>You can download this PPT from here for free</a:t>
            </a:r>
            <a:r>
              <a:rPr lang="en-US" altLang="zh-CN">
                <a:solidFill>
                  <a:schemeClr val="bg1"/>
                </a:solidFill>
                <a:latin typeface="方正楷体简体" panose="03000509000000000000" charset="-122"/>
                <a:ea typeface="方正楷体简体" panose="03000509000000000000" charset="-122"/>
              </a:rPr>
              <a:t>: https://user-henry.github.io/nflshcchat/Be a Website Developer.pptx</a:t>
            </a:r>
            <a:endParaRPr lang="en-US" altLang="zh-CN">
              <a:solidFill>
                <a:schemeClr val="bg1"/>
              </a:solidFill>
              <a:latin typeface="方正楷体简体" panose="03000509000000000000" charset="-122"/>
              <a:ea typeface="方正楷体简体" panose="03000509000000000000" charset="-122"/>
            </a:endParaRPr>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 name="KSO_WM_UNIT_MEDIACOVER_BTNRECT" val="0*0*0*0"/>
</p:tagLst>
</file>

<file path=ppt/tags/tag2.xml><?xml version="1.0" encoding="utf-8"?>
<p:tagLst xmlns:p="http://schemas.openxmlformats.org/presentationml/2006/main">
  <p:tag name="commondata" val="eyJoZGlkIjoiMWY1OWY5MTA3MDY1NTIxZWZiYzgwZTBkNTdlYjgwOTMifQ=="/>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7248</Words>
  <Application>WPS 演示</Application>
  <PresentationFormat>宽屏</PresentationFormat>
  <Paragraphs>186</Paragraphs>
  <Slides>17</Slides>
  <Notes>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宋体</vt:lpstr>
      <vt:lpstr>Wingdings</vt:lpstr>
      <vt:lpstr>Calibri Light</vt:lpstr>
      <vt:lpstr>Calibri</vt:lpstr>
      <vt:lpstr>方正姚体简体</vt:lpstr>
      <vt:lpstr>方正姚体</vt:lpstr>
      <vt:lpstr>Noto Sans SC Black</vt:lpstr>
      <vt:lpstr>Impact</vt:lpstr>
      <vt:lpstr>方正楷体简体</vt:lpstr>
      <vt:lpstr>方正小标宋简体</vt:lpstr>
      <vt:lpstr>Cambria Math</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Henry</cp:lastModifiedBy>
  <cp:revision>85</cp:revision>
  <dcterms:created xsi:type="dcterms:W3CDTF">2015-07-24T18:47:00Z</dcterms:created>
  <dcterms:modified xsi:type="dcterms:W3CDTF">2026-06-13T03:30:54Z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E3A5D3A560BF4300854D5CA498009CEA_12</vt:lpwstr>
  </property>
</Properties>
</file>